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9" r:id="rId4"/>
    <p:sldId id="284" r:id="rId5"/>
    <p:sldId id="260" r:id="rId6"/>
    <p:sldId id="262" r:id="rId7"/>
    <p:sldId id="261" r:id="rId8"/>
    <p:sldId id="281" r:id="rId9"/>
    <p:sldId id="264" r:id="rId10"/>
    <p:sldId id="266" r:id="rId11"/>
    <p:sldId id="279" r:id="rId12"/>
    <p:sldId id="280" r:id="rId13"/>
    <p:sldId id="285" r:id="rId14"/>
    <p:sldId id="286" r:id="rId15"/>
    <p:sldId id="282" r:id="rId16"/>
    <p:sldId id="265" r:id="rId17"/>
    <p:sldId id="278" r:id="rId18"/>
    <p:sldId id="269" r:id="rId19"/>
    <p:sldId id="267" r:id="rId20"/>
    <p:sldId id="263" r:id="rId21"/>
    <p:sldId id="272" r:id="rId22"/>
    <p:sldId id="258" r:id="rId23"/>
  </p:sldIdLst>
  <p:sldSz cx="9144000" cy="5143500" type="screen16x9"/>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840"/>
    <p:restoredTop sz="94677"/>
  </p:normalViewPr>
  <p:slideViewPr>
    <p:cSldViewPr snapToGrid="0">
      <p:cViewPr varScale="1">
        <p:scale>
          <a:sx n="135" d="100"/>
          <a:sy n="135" d="100"/>
        </p:scale>
        <p:origin x="528" y="1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DF148-44BB-289A-8B3C-CD6F59EB9B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913514-6D9C-CC2E-3E48-1531D282CB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C84F1D-545A-1146-01F0-D0CA1CDC0E98}"/>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EEFD6512-0037-2143-450D-34E3E0033C5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9965894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annexe</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E91D0-A44E-579B-AC95-E379BB5DB3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B4FB66-FB86-FF2E-4615-5957BB2ED2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9F21D7-CEE4-4B7B-16F1-EF9BC4C74219}"/>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5DF30183-8E5E-F86E-0B9A-A3034E3C254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81535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3830B-4F1E-BC08-1E9E-87480CD2D3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8F07F9-931B-AAC0-4949-47C594F63A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7FCFAD-FF1E-7D70-BCA1-D4399A8F3132}"/>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B0A52F03-321A-C841-F9AD-6E31969F9BD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6498458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342AC-54B5-3A83-DAA0-993B24A521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9E3CDC-850F-E748-D434-AE5443C06A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3D46F0-7BF8-29E6-C89F-2E17CD201181}"/>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BC6AB8DB-748B-A4B7-B628-05BBD5CB7B7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7972642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annexe</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annexe</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6BC8DC3-58E3-4BCC-930B-8946B06028D2}"/>
              </a:ext>
            </a:extLst>
          </p:cNvPr>
          <p:cNvSpPr>
            <a:spLocks noGrp="1"/>
          </p:cNvSpPr>
          <p:nvPr/>
        </p:nvSpPr>
        <p:spPr>
          <a:xfrm>
            <a:off x="0" y="0"/>
            <a:ext cx="9144000" cy="5143500"/>
          </a:xfrm>
          <a:prstGeom prst="rect">
            <a:avLst/>
          </a:prstGeom>
          <a:solidFill>
            <a:srgbClr val="E6DED2"/>
          </a:solidFill>
        </p:spPr>
        <p:txBody>
          <a:bodyPr/>
          <a:lstStyle/>
          <a:p>
            <a:endParaRPr lang="fr-FR"/>
          </a:p>
        </p:txBody>
      </p:sp>
      <p:sp>
        <p:nvSpPr>
          <p:cNvPr id="3" name="Shape 1">
            <a:extLst>
              <a:ext uri="{FF2B5EF4-FFF2-40B4-BE49-F238E27FC236}">
                <a16:creationId xmlns:a16="http://schemas.microsoft.com/office/drawing/2014/main" id="{29DDC450-4F26-4158-9D24-51DC05454CFE}"/>
              </a:ext>
            </a:extLst>
          </p:cNvPr>
          <p:cNvSpPr>
            <a:spLocks noGrp="1"/>
          </p:cNvSpPr>
          <p:nvPr/>
        </p:nvSpPr>
        <p:spPr>
          <a:xfrm>
            <a:off x="0" y="0"/>
            <a:ext cx="9144000" cy="5143500"/>
          </a:xfrm>
          <a:prstGeom prst="rect">
            <a:avLst/>
          </a:prstGeom>
          <a:solidFill>
            <a:srgbClr val="FDFBF7"/>
          </a:solidFill>
        </p:spPr>
        <p:txBody>
          <a:bodyPr/>
          <a:lstStyle/>
          <a:p>
            <a:endParaRPr lang="fr-FR"/>
          </a:p>
        </p:txBody>
      </p:sp>
      <p:pic>
        <p:nvPicPr>
          <p:cNvPr id="4" name="Image 0"/>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a:spcBef>
          <a:spcPts val="0"/>
        </a:spcBef>
        <a:buNone/>
        <a:defRPr sz="4400">
          <a:solidFill>
            <a:schemeClr val="tx1"/>
          </a:solidFill>
          <a:latin typeface="+mj-lt"/>
          <a:ea typeface="+mj-lt"/>
          <a:cs typeface="+mj-lt"/>
        </a:defRPr>
      </a:lvl1pPr>
    </p:titleStyle>
    <p:bodyStyle>
      <a:lvl1pPr marL="342900" indent="-342900" algn="l">
        <a:spcBef>
          <a:spcPts val="0"/>
        </a:spcBef>
        <a:buChar char="•"/>
        <a:defRPr sz="3200">
          <a:solidFill>
            <a:schemeClr val="tx1"/>
          </a:solidFill>
          <a:latin typeface="+mn-lt"/>
          <a:ea typeface="+mn-lt"/>
          <a:cs typeface="+mn-lt"/>
        </a:defRPr>
      </a:lvl1pPr>
      <a:lvl2pPr marL="742950" indent="-285750" algn="l">
        <a:spcBef>
          <a:spcPts val="0"/>
        </a:spcBef>
        <a:buChar char="–"/>
        <a:defRPr sz="2800">
          <a:solidFill>
            <a:schemeClr val="tx1"/>
          </a:solidFill>
          <a:latin typeface="+mn-lt"/>
          <a:ea typeface="+mn-lt"/>
          <a:cs typeface="+mn-lt"/>
        </a:defRPr>
      </a:lvl2pPr>
      <a:lvl3pPr marL="1143000" indent="-228600" algn="l">
        <a:spcBef>
          <a:spcPts val="0"/>
        </a:spcBef>
        <a:buChar char="•"/>
        <a:defRPr sz="2400">
          <a:solidFill>
            <a:schemeClr val="tx1"/>
          </a:solidFill>
          <a:latin typeface="+mn-lt"/>
          <a:ea typeface="+mn-lt"/>
          <a:cs typeface="+mn-lt"/>
        </a:defRPr>
      </a:lvl3pPr>
      <a:lvl4pPr marL="1600200" indent="-228600" algn="l">
        <a:spcBef>
          <a:spcPts val="0"/>
        </a:spcBef>
        <a:buChar char="–"/>
        <a:defRPr sz="2000">
          <a:solidFill>
            <a:schemeClr val="tx1"/>
          </a:solidFill>
          <a:latin typeface="+mn-lt"/>
          <a:ea typeface="+mn-lt"/>
          <a:cs typeface="+mn-lt"/>
        </a:defRPr>
      </a:lvl4pPr>
      <a:lvl5pPr marL="2057400" indent="-228600" algn="l">
        <a:spcBef>
          <a:spcPts val="0"/>
        </a:spcBef>
        <a:buChar char="»"/>
        <a:defRPr sz="2000">
          <a:solidFill>
            <a:schemeClr val="tx1"/>
          </a:solidFill>
          <a:latin typeface="+mn-lt"/>
          <a:ea typeface="+mn-lt"/>
          <a:cs typeface="+mn-lt"/>
        </a:defRPr>
      </a:lvl5pPr>
      <a:lvl6pPr marL="2514600" indent="-228600" algn="l">
        <a:spcBef>
          <a:spcPts val="0"/>
        </a:spcBef>
        <a:buChar char="•"/>
        <a:defRPr sz="2000">
          <a:solidFill>
            <a:schemeClr val="tx1"/>
          </a:solidFill>
          <a:latin typeface="+mn-lt"/>
          <a:ea typeface="+mn-lt"/>
          <a:cs typeface="+mn-lt"/>
        </a:defRPr>
      </a:lvl6pPr>
      <a:lvl7pPr marL="2971800" indent="-228600" algn="l">
        <a:spcBef>
          <a:spcPts val="0"/>
        </a:spcBef>
        <a:buChar char="•"/>
        <a:defRPr sz="2000">
          <a:solidFill>
            <a:schemeClr val="tx1"/>
          </a:solidFill>
          <a:latin typeface="+mn-lt"/>
          <a:ea typeface="+mn-lt"/>
          <a:cs typeface="+mn-lt"/>
        </a:defRPr>
      </a:lvl7pPr>
      <a:lvl8pPr marL="3429000" indent="-228600" algn="l">
        <a:spcBef>
          <a:spcPts val="0"/>
        </a:spcBef>
        <a:buChar char="•"/>
        <a:defRPr sz="2000">
          <a:solidFill>
            <a:schemeClr val="tx1"/>
          </a:solidFill>
          <a:latin typeface="+mn-lt"/>
          <a:ea typeface="+mn-lt"/>
          <a:cs typeface="+mn-lt"/>
        </a:defRPr>
      </a:lvl8pPr>
      <a:lvl9pPr marL="3886200" indent="-228600" algn="l">
        <a:spcBef>
          <a:spcPts val="0"/>
        </a:spcBef>
        <a:buChar char="•"/>
        <a:defRPr sz="20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0"/>
          <p:cNvPicPr>
            <a:picLocks noChangeAspect="1"/>
          </p:cNvPicPr>
          <p:nvPr/>
        </p:nvPicPr>
        <p:blipFill>
          <a:blip r:embed="rId3"/>
          <a:stretch>
            <a:fillRect/>
          </a:stretch>
        </p:blipFill>
        <p:spPr>
          <a:xfrm>
            <a:off x="0" y="0"/>
            <a:ext cx="4572000" cy="5143500"/>
          </a:xfrm>
          <a:prstGeom prst="rect">
            <a:avLst/>
          </a:prstGeom>
        </p:spPr>
      </p:pic>
      <p:pic>
        <p:nvPicPr>
          <p:cNvPr id="9" name="Image 1"/>
          <p:cNvPicPr>
            <a:picLocks noChangeAspect="1"/>
          </p:cNvPicPr>
          <p:nvPr/>
        </p:nvPicPr>
        <p:blipFill>
          <a:blip r:embed="rId4"/>
          <a:stretch>
            <a:fillRect/>
          </a:stretch>
        </p:blipFill>
        <p:spPr>
          <a:xfrm>
            <a:off x="5068119" y="1445568"/>
            <a:ext cx="3579763" cy="1252910"/>
          </a:xfrm>
          <a:prstGeom prst="rect">
            <a:avLst/>
          </a:prstGeom>
        </p:spPr>
      </p:pic>
      <p:sp>
        <p:nvSpPr>
          <p:cNvPr id="4" name="Text 0">
            <a:extLst>
              <a:ext uri="{FF2B5EF4-FFF2-40B4-BE49-F238E27FC236}">
                <a16:creationId xmlns:a16="http://schemas.microsoft.com/office/drawing/2014/main" id="{1A2C3614-751B-4E7D-9EEB-330D8E8C00B3}"/>
              </a:ext>
            </a:extLst>
          </p:cNvPr>
          <p:cNvSpPr>
            <a:spLocks noGrp="1"/>
          </p:cNvSpPr>
          <p:nvPr/>
        </p:nvSpPr>
        <p:spPr>
          <a:xfrm>
            <a:off x="5068119" y="2857946"/>
            <a:ext cx="4036963" cy="226814"/>
          </a:xfrm>
          <a:prstGeom prst="rect">
            <a:avLst/>
          </a:prstGeom>
          <a:noFill/>
        </p:spPr>
        <p:txBody>
          <a:bodyPr wrap="none" lIns="0" tIns="0" rIns="0" bIns="0" anchor="t"/>
          <a:lstStyle/>
          <a:p>
            <a:pPr marL="0" indent="0" algn="l">
              <a:lnSpc>
                <a:spcPct val="133000"/>
              </a:lnSpc>
              <a:buNone/>
            </a:pPr>
            <a:endParaRPr/>
          </a:p>
        </p:txBody>
      </p:sp>
      <p:sp>
        <p:nvSpPr>
          <p:cNvPr id="5" name="Text 1">
            <a:extLst>
              <a:ext uri="{FF2B5EF4-FFF2-40B4-BE49-F238E27FC236}">
                <a16:creationId xmlns:a16="http://schemas.microsoft.com/office/drawing/2014/main" id="{C3CCC057-B348-4E21-8562-443F6AFF7D19}"/>
              </a:ext>
            </a:extLst>
          </p:cNvPr>
          <p:cNvSpPr>
            <a:spLocks noGrp="1"/>
          </p:cNvSpPr>
          <p:nvPr/>
        </p:nvSpPr>
        <p:spPr>
          <a:xfrm>
            <a:off x="5068119" y="3244230"/>
            <a:ext cx="3579763" cy="453628"/>
          </a:xfrm>
          <a:prstGeom prst="rect">
            <a:avLst/>
          </a:prstGeom>
          <a:noFill/>
        </p:spPr>
        <p:txBody>
          <a:bodyPr wrap="square" lIns="0" tIns="0" rIns="0" bIns="0" anchor="t">
            <a:normAutofit/>
          </a:bodyPr>
          <a:lstStyle/>
          <a:p>
            <a:pPr marL="0" indent="0" algn="ctr">
              <a:lnSpc>
                <a:spcPct val="133000"/>
              </a:lnSpc>
              <a:buNone/>
            </a:pPr>
            <a:r>
              <a:rPr sz="1100">
                <a:solidFill>
                  <a:srgbClr val="4C4C4C"/>
                </a:solidFill>
                <a:latin typeface="Noto Serif"/>
                <a:ea typeface="Noto Serif"/>
                <a:cs typeface="Noto Serif"/>
              </a:rPr>
              <a:t>Un seul dashboard. Toute la vérité. C'est tout ce que votre restaurant attendait.</a:t>
            </a:r>
          </a:p>
        </p:txBody>
      </p:sp>
    </p:spTree>
    <p:extLst>
      <p:ext uri="{BB962C8B-B14F-4D97-AF65-F5344CB8AC3E}">
        <p14:creationId xmlns:p14="http://schemas.microsoft.com/office/powerpoint/2010/main" val="9728784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8DCCB62-7A20-4B27-B5F3-F94A9DDE877D}"/>
              </a:ext>
            </a:extLst>
          </p:cNvPr>
          <p:cNvSpPr>
            <a:spLocks noGrp="1"/>
          </p:cNvSpPr>
          <p:nvPr/>
        </p:nvSpPr>
        <p:spPr>
          <a:xfrm>
            <a:off x="496119" y="844897"/>
            <a:ext cx="1785168" cy="266402"/>
          </a:xfrm>
          <a:prstGeom prst="roundRect">
            <a:avLst>
              <a:gd name="adj" fmla="val 17880"/>
            </a:avLst>
          </a:prstGeom>
          <a:solidFill>
            <a:srgbClr val="E8E6E3"/>
          </a:solidFill>
        </p:spPr>
        <p:txBody>
          <a:bodyPr/>
          <a:lstStyle/>
          <a:p>
            <a:endParaRPr lang="fr-FR" dirty="0"/>
          </a:p>
        </p:txBody>
      </p:sp>
      <p:sp>
        <p:nvSpPr>
          <p:cNvPr id="3" name="Text 1">
            <a:extLst>
              <a:ext uri="{FF2B5EF4-FFF2-40B4-BE49-F238E27FC236}">
                <a16:creationId xmlns:a16="http://schemas.microsoft.com/office/drawing/2014/main" id="{F2DCCAB3-AF4F-4357-91F5-1F129FE15C01}"/>
              </a:ext>
            </a:extLst>
          </p:cNvPr>
          <p:cNvSpPr>
            <a:spLocks noGrp="1"/>
          </p:cNvSpPr>
          <p:nvPr/>
        </p:nvSpPr>
        <p:spPr>
          <a:xfrm>
            <a:off x="581174" y="887388"/>
            <a:ext cx="1603623" cy="181421"/>
          </a:xfrm>
          <a:prstGeom prst="rect">
            <a:avLst/>
          </a:prstGeom>
          <a:noFill/>
        </p:spPr>
        <p:txBody>
          <a:bodyPr wrap="none" lIns="0" tIns="0" rIns="0" bIns="0" anchor="t"/>
          <a:lstStyle/>
          <a:p>
            <a:pPr marL="0" indent="0" algn="l">
              <a:lnSpc>
                <a:spcPct val="133000"/>
              </a:lnSpc>
              <a:buNone/>
            </a:pPr>
            <a:r>
              <a:rPr lang="fr-FR" sz="850" dirty="0">
                <a:solidFill>
                  <a:srgbClr val="4C4C4C"/>
                </a:solidFill>
                <a:latin typeface="Noto Serif"/>
                <a:ea typeface="Noto Serif"/>
                <a:cs typeface="Noto Serif"/>
              </a:rPr>
              <a:t>CONTEXTE /</a:t>
            </a:r>
            <a:r>
              <a:rPr sz="850" dirty="0">
                <a:solidFill>
                  <a:srgbClr val="4C4C4C"/>
                </a:solidFill>
                <a:latin typeface="Noto Serif"/>
                <a:ea typeface="Noto Serif"/>
                <a:cs typeface="Noto Serif"/>
              </a:rPr>
              <a:t> PROBLÉMATIQUE</a:t>
            </a:r>
          </a:p>
        </p:txBody>
      </p:sp>
      <p:sp>
        <p:nvSpPr>
          <p:cNvPr id="4" name="Text 2">
            <a:extLst>
              <a:ext uri="{FF2B5EF4-FFF2-40B4-BE49-F238E27FC236}">
                <a16:creationId xmlns:a16="http://schemas.microsoft.com/office/drawing/2014/main" id="{F6DEF3F9-CD84-4748-93B4-99CEABF53A6C}"/>
              </a:ext>
            </a:extLst>
          </p:cNvPr>
          <p:cNvSpPr>
            <a:spLocks noGrp="1"/>
          </p:cNvSpPr>
          <p:nvPr/>
        </p:nvSpPr>
        <p:spPr>
          <a:xfrm>
            <a:off x="496119" y="1168003"/>
            <a:ext cx="6515026" cy="442987"/>
          </a:xfrm>
          <a:prstGeom prst="rect">
            <a:avLst/>
          </a:prstGeom>
          <a:noFill/>
        </p:spPr>
        <p:txBody>
          <a:bodyPr wrap="none" lIns="0" tIns="0" rIns="0" bIns="0" anchor="t"/>
          <a:lstStyle/>
          <a:p>
            <a:pPr marL="0" indent="0" algn="l">
              <a:lnSpc>
                <a:spcPct val="104000"/>
              </a:lnSpc>
              <a:buNone/>
            </a:pPr>
            <a:r>
              <a:rPr sz="2750">
                <a:solidFill>
                  <a:srgbClr val="3A3A3A"/>
                </a:solidFill>
                <a:latin typeface="Noto Serif Medium"/>
                <a:ea typeface="Noto Serif Medium"/>
                <a:cs typeface="Noto Serif Medium"/>
              </a:rPr>
              <a:t>Les 4 Pain Points des Restaurateurs</a:t>
            </a:r>
          </a:p>
        </p:txBody>
      </p:sp>
      <p:sp>
        <p:nvSpPr>
          <p:cNvPr id="5" name="Shape 3">
            <a:extLst>
              <a:ext uri="{FF2B5EF4-FFF2-40B4-BE49-F238E27FC236}">
                <a16:creationId xmlns:a16="http://schemas.microsoft.com/office/drawing/2014/main" id="{1BE439CB-DF18-4D7E-BFAC-51E8195EDAD1}"/>
              </a:ext>
            </a:extLst>
          </p:cNvPr>
          <p:cNvSpPr>
            <a:spLocks noGrp="1"/>
          </p:cNvSpPr>
          <p:nvPr/>
        </p:nvSpPr>
        <p:spPr>
          <a:xfrm>
            <a:off x="496119" y="1823591"/>
            <a:ext cx="4004965" cy="1279996"/>
          </a:xfrm>
          <a:prstGeom prst="roundRect">
            <a:avLst>
              <a:gd name="adj" fmla="val 4652"/>
            </a:avLst>
          </a:prstGeom>
          <a:solidFill>
            <a:srgbClr val="E6DED2">
              <a:alpha val="50000"/>
            </a:srgbClr>
          </a:solidFill>
          <a:ln w="4763">
            <a:solidFill>
              <a:srgbClr val="CCC4B8"/>
            </a:solidFill>
            <a:prstDash val="solid"/>
          </a:ln>
          <a:effectLst>
            <a:outerShdw blurRad="101600" dist="17780" dir="2700000" algn="bl" rotWithShape="0">
              <a:srgbClr val="CCC4B8">
                <a:alpha val="100000"/>
              </a:srgbClr>
            </a:outerShdw>
          </a:effectLst>
        </p:spPr>
        <p:txBody>
          <a:bodyPr/>
          <a:lstStyle/>
          <a:p>
            <a:endParaRPr lang="fr-FR"/>
          </a:p>
        </p:txBody>
      </p:sp>
      <p:sp>
        <p:nvSpPr>
          <p:cNvPr id="6" name="Text 4">
            <a:extLst>
              <a:ext uri="{FF2B5EF4-FFF2-40B4-BE49-F238E27FC236}">
                <a16:creationId xmlns:a16="http://schemas.microsoft.com/office/drawing/2014/main" id="{EA13E648-8253-4B3E-8693-762C571D671B}"/>
              </a:ext>
            </a:extLst>
          </p:cNvPr>
          <p:cNvSpPr>
            <a:spLocks noGrp="1"/>
          </p:cNvSpPr>
          <p:nvPr/>
        </p:nvSpPr>
        <p:spPr>
          <a:xfrm>
            <a:off x="642640" y="1970112"/>
            <a:ext cx="2083296" cy="221456"/>
          </a:xfrm>
          <a:prstGeom prst="rect">
            <a:avLst/>
          </a:prstGeom>
          <a:noFill/>
        </p:spPr>
        <p:txBody>
          <a:bodyPr wrap="none" lIns="0" tIns="0" rIns="0" bIns="0" anchor="t"/>
          <a:lstStyle/>
          <a:p>
            <a:pPr marL="0" indent="0" algn="l">
              <a:lnSpc>
                <a:spcPct val="104000"/>
              </a:lnSpc>
              <a:buNone/>
            </a:pPr>
            <a:r>
              <a:rPr sz="1350">
                <a:solidFill>
                  <a:srgbClr val="000000"/>
                </a:solidFill>
                <a:latin typeface="Noto Serif Medium"/>
                <a:ea typeface="Noto Serif Medium"/>
                <a:cs typeface="Noto Serif Medium"/>
              </a:rPr>
              <a:t>1. Visibilité sur la marge</a:t>
            </a:r>
          </a:p>
        </p:txBody>
      </p:sp>
      <p:sp>
        <p:nvSpPr>
          <p:cNvPr id="7" name="Text 5">
            <a:extLst>
              <a:ext uri="{FF2B5EF4-FFF2-40B4-BE49-F238E27FC236}">
                <a16:creationId xmlns:a16="http://schemas.microsoft.com/office/drawing/2014/main" id="{6C61CA20-1776-492C-9772-3020E7F3E1F3}"/>
              </a:ext>
            </a:extLst>
          </p:cNvPr>
          <p:cNvSpPr>
            <a:spLocks noGrp="1"/>
          </p:cNvSpPr>
          <p:nvPr/>
        </p:nvSpPr>
        <p:spPr>
          <a:xfrm>
            <a:off x="642640" y="2276624"/>
            <a:ext cx="3711922" cy="680442"/>
          </a:xfrm>
          <a:prstGeom prst="rect">
            <a:avLst/>
          </a:prstGeom>
          <a:noFill/>
        </p:spPr>
        <p:txBody>
          <a:bodyPr wrap="square" lIns="0" tIns="0" rIns="0" bIns="0" anchor="t">
            <a:normAutofit/>
          </a:bodyPr>
          <a:lstStyle/>
          <a:p>
            <a:pPr marL="0" indent="0" algn="l">
              <a:lnSpc>
                <a:spcPct val="133000"/>
              </a:lnSpc>
              <a:buNone/>
            </a:pPr>
            <a:r>
              <a:rPr sz="1100">
                <a:solidFill>
                  <a:srgbClr val="000000"/>
                </a:solidFill>
                <a:latin typeface="Noto Serif"/>
                <a:ea typeface="Noto Serif"/>
                <a:cs typeface="Noto Serif"/>
              </a:rPr>
              <a:t>Pas de visibilité en temps réel sur la marge nette et le point mort - impossible de savoir si le restaurant est rentable avant la clôture mensuelle.</a:t>
            </a:r>
          </a:p>
        </p:txBody>
      </p:sp>
      <p:sp>
        <p:nvSpPr>
          <p:cNvPr id="8" name="Shape 6">
            <a:extLst>
              <a:ext uri="{FF2B5EF4-FFF2-40B4-BE49-F238E27FC236}">
                <a16:creationId xmlns:a16="http://schemas.microsoft.com/office/drawing/2014/main" id="{B115310D-FD44-45FC-AB7D-16FE4A5F35AC}"/>
              </a:ext>
            </a:extLst>
          </p:cNvPr>
          <p:cNvSpPr>
            <a:spLocks noGrp="1"/>
          </p:cNvSpPr>
          <p:nvPr/>
        </p:nvSpPr>
        <p:spPr>
          <a:xfrm>
            <a:off x="4642842" y="1823591"/>
            <a:ext cx="4005039" cy="1279996"/>
          </a:xfrm>
          <a:prstGeom prst="roundRect">
            <a:avLst>
              <a:gd name="adj" fmla="val 4652"/>
            </a:avLst>
          </a:prstGeom>
          <a:solidFill>
            <a:srgbClr val="E6DED2">
              <a:alpha val="50000"/>
            </a:srgbClr>
          </a:solidFill>
          <a:ln w="4763">
            <a:solidFill>
              <a:srgbClr val="CCC4B8"/>
            </a:solidFill>
            <a:prstDash val="solid"/>
          </a:ln>
          <a:effectLst>
            <a:outerShdw blurRad="101600" dist="17780" dir="2700000" algn="bl" rotWithShape="0">
              <a:srgbClr val="CCC4B8">
                <a:alpha val="100000"/>
              </a:srgbClr>
            </a:outerShdw>
          </a:effectLst>
        </p:spPr>
        <p:txBody>
          <a:bodyPr/>
          <a:lstStyle/>
          <a:p>
            <a:endParaRPr lang="fr-FR"/>
          </a:p>
        </p:txBody>
      </p:sp>
      <p:sp>
        <p:nvSpPr>
          <p:cNvPr id="9" name="Text 7">
            <a:extLst>
              <a:ext uri="{FF2B5EF4-FFF2-40B4-BE49-F238E27FC236}">
                <a16:creationId xmlns:a16="http://schemas.microsoft.com/office/drawing/2014/main" id="{4799E378-E408-458D-AF5D-90BB1405681B}"/>
              </a:ext>
            </a:extLst>
          </p:cNvPr>
          <p:cNvSpPr>
            <a:spLocks noGrp="1"/>
          </p:cNvSpPr>
          <p:nvPr/>
        </p:nvSpPr>
        <p:spPr>
          <a:xfrm>
            <a:off x="4789363" y="1970112"/>
            <a:ext cx="2295004" cy="221456"/>
          </a:xfrm>
          <a:prstGeom prst="rect">
            <a:avLst/>
          </a:prstGeom>
          <a:noFill/>
        </p:spPr>
        <p:txBody>
          <a:bodyPr wrap="none" lIns="0" tIns="0" rIns="0" bIns="0" anchor="t"/>
          <a:lstStyle/>
          <a:p>
            <a:pPr marL="0" indent="0" algn="l">
              <a:lnSpc>
                <a:spcPct val="104000"/>
              </a:lnSpc>
              <a:buNone/>
            </a:pPr>
            <a:r>
              <a:rPr sz="1350">
                <a:solidFill>
                  <a:srgbClr val="000000"/>
                </a:solidFill>
                <a:latin typeface="Noto Serif Medium"/>
                <a:ea typeface="Noto Serif Medium"/>
                <a:cs typeface="Noto Serif Medium"/>
              </a:rPr>
              <a:t>2. Anticipation de l'activité</a:t>
            </a:r>
          </a:p>
        </p:txBody>
      </p:sp>
      <p:sp>
        <p:nvSpPr>
          <p:cNvPr id="10" name="Text 8">
            <a:extLst>
              <a:ext uri="{FF2B5EF4-FFF2-40B4-BE49-F238E27FC236}">
                <a16:creationId xmlns:a16="http://schemas.microsoft.com/office/drawing/2014/main" id="{33D60F67-A0C7-457E-9D98-E13F9409831E}"/>
              </a:ext>
            </a:extLst>
          </p:cNvPr>
          <p:cNvSpPr>
            <a:spLocks noGrp="1"/>
          </p:cNvSpPr>
          <p:nvPr/>
        </p:nvSpPr>
        <p:spPr>
          <a:xfrm>
            <a:off x="4789363" y="2276624"/>
            <a:ext cx="3711997" cy="453628"/>
          </a:xfrm>
          <a:prstGeom prst="rect">
            <a:avLst/>
          </a:prstGeom>
          <a:noFill/>
        </p:spPr>
        <p:txBody>
          <a:bodyPr wrap="square" lIns="0" tIns="0" rIns="0" bIns="0" anchor="t">
            <a:normAutofit/>
          </a:bodyPr>
          <a:lstStyle/>
          <a:p>
            <a:pPr marL="0" indent="0" algn="l">
              <a:lnSpc>
                <a:spcPct val="133000"/>
              </a:lnSpc>
              <a:buNone/>
            </a:pPr>
            <a:r>
              <a:rPr sz="1100">
                <a:solidFill>
                  <a:srgbClr val="000000"/>
                </a:solidFill>
                <a:latin typeface="Noto Serif"/>
                <a:ea typeface="Noto Serif"/>
                <a:cs typeface="Noto Serif"/>
              </a:rPr>
              <a:t>Impossibilité d'anticiper l'activité future sans outil de prédiction - investissements décidés dans l'urgence.</a:t>
            </a:r>
          </a:p>
        </p:txBody>
      </p:sp>
      <p:sp>
        <p:nvSpPr>
          <p:cNvPr id="11" name="Shape 9">
            <a:extLst>
              <a:ext uri="{FF2B5EF4-FFF2-40B4-BE49-F238E27FC236}">
                <a16:creationId xmlns:a16="http://schemas.microsoft.com/office/drawing/2014/main" id="{ECFF5789-55A0-4D82-AF44-C7B8ED4E8177}"/>
              </a:ext>
            </a:extLst>
          </p:cNvPr>
          <p:cNvSpPr>
            <a:spLocks noGrp="1"/>
          </p:cNvSpPr>
          <p:nvPr/>
        </p:nvSpPr>
        <p:spPr>
          <a:xfrm>
            <a:off x="496119" y="3245346"/>
            <a:ext cx="4004965" cy="1053182"/>
          </a:xfrm>
          <a:prstGeom prst="roundRect">
            <a:avLst>
              <a:gd name="adj" fmla="val 5654"/>
            </a:avLst>
          </a:prstGeom>
          <a:solidFill>
            <a:srgbClr val="E6DED2">
              <a:alpha val="50000"/>
            </a:srgbClr>
          </a:solidFill>
          <a:ln w="4763">
            <a:solidFill>
              <a:srgbClr val="CCC4B8"/>
            </a:solidFill>
            <a:prstDash val="solid"/>
          </a:ln>
          <a:effectLst>
            <a:outerShdw blurRad="101600" dist="17780" dir="2700000" algn="bl" rotWithShape="0">
              <a:srgbClr val="CCC4B8">
                <a:alpha val="100000"/>
              </a:srgbClr>
            </a:outerShdw>
          </a:effectLst>
        </p:spPr>
        <p:txBody>
          <a:bodyPr/>
          <a:lstStyle/>
          <a:p>
            <a:endParaRPr lang="fr-FR"/>
          </a:p>
        </p:txBody>
      </p:sp>
      <p:sp>
        <p:nvSpPr>
          <p:cNvPr id="12" name="Text 10">
            <a:extLst>
              <a:ext uri="{FF2B5EF4-FFF2-40B4-BE49-F238E27FC236}">
                <a16:creationId xmlns:a16="http://schemas.microsoft.com/office/drawing/2014/main" id="{71BED966-FE12-4EE2-A2EA-0BCBF10A11CB}"/>
              </a:ext>
            </a:extLst>
          </p:cNvPr>
          <p:cNvSpPr>
            <a:spLocks noGrp="1"/>
          </p:cNvSpPr>
          <p:nvPr/>
        </p:nvSpPr>
        <p:spPr>
          <a:xfrm>
            <a:off x="642640" y="3391867"/>
            <a:ext cx="1834307" cy="221456"/>
          </a:xfrm>
          <a:prstGeom prst="rect">
            <a:avLst/>
          </a:prstGeom>
          <a:noFill/>
        </p:spPr>
        <p:txBody>
          <a:bodyPr wrap="none" lIns="0" tIns="0" rIns="0" bIns="0" anchor="t"/>
          <a:lstStyle/>
          <a:p>
            <a:pPr marL="0" indent="0" algn="l">
              <a:lnSpc>
                <a:spcPct val="104000"/>
              </a:lnSpc>
              <a:buNone/>
            </a:pPr>
            <a:r>
              <a:rPr sz="1350">
                <a:solidFill>
                  <a:srgbClr val="000000"/>
                </a:solidFill>
                <a:latin typeface="Noto Serif Medium"/>
                <a:ea typeface="Noto Serif Medium"/>
                <a:cs typeface="Noto Serif Medium"/>
              </a:rPr>
              <a:t>3. Poids administratif</a:t>
            </a:r>
          </a:p>
        </p:txBody>
      </p:sp>
      <p:sp>
        <p:nvSpPr>
          <p:cNvPr id="13" name="Text 11">
            <a:extLst>
              <a:ext uri="{FF2B5EF4-FFF2-40B4-BE49-F238E27FC236}">
                <a16:creationId xmlns:a16="http://schemas.microsoft.com/office/drawing/2014/main" id="{B04BE5B3-69A5-4C72-8A48-ADCD0F4BC1E1}"/>
              </a:ext>
            </a:extLst>
          </p:cNvPr>
          <p:cNvSpPr>
            <a:spLocks noGrp="1"/>
          </p:cNvSpPr>
          <p:nvPr/>
        </p:nvSpPr>
        <p:spPr>
          <a:xfrm>
            <a:off x="642640" y="3698379"/>
            <a:ext cx="3711922" cy="453628"/>
          </a:xfrm>
          <a:prstGeom prst="rect">
            <a:avLst/>
          </a:prstGeom>
          <a:noFill/>
        </p:spPr>
        <p:txBody>
          <a:bodyPr wrap="square" lIns="0" tIns="0" rIns="0" bIns="0" anchor="t">
            <a:normAutofit/>
          </a:bodyPr>
          <a:lstStyle/>
          <a:p>
            <a:pPr marL="0" indent="0" algn="l">
              <a:lnSpc>
                <a:spcPct val="133000"/>
              </a:lnSpc>
              <a:buNone/>
            </a:pPr>
            <a:r>
              <a:rPr sz="1100">
                <a:solidFill>
                  <a:srgbClr val="000000"/>
                </a:solidFill>
                <a:latin typeface="Noto Serif"/>
                <a:ea typeface="Noto Serif"/>
                <a:cs typeface="Noto Serif"/>
              </a:rPr>
              <a:t>Poids administratif du traitement manuel des factures fournisseurs - 2 à 4 heures perdues chaque semaine.</a:t>
            </a:r>
          </a:p>
        </p:txBody>
      </p:sp>
      <p:sp>
        <p:nvSpPr>
          <p:cNvPr id="14" name="Shape 12">
            <a:extLst>
              <a:ext uri="{FF2B5EF4-FFF2-40B4-BE49-F238E27FC236}">
                <a16:creationId xmlns:a16="http://schemas.microsoft.com/office/drawing/2014/main" id="{47DD15BE-1594-4F25-A2C7-9AE4E3C8A954}"/>
              </a:ext>
            </a:extLst>
          </p:cNvPr>
          <p:cNvSpPr>
            <a:spLocks noGrp="1"/>
          </p:cNvSpPr>
          <p:nvPr/>
        </p:nvSpPr>
        <p:spPr>
          <a:xfrm>
            <a:off x="4642842" y="3245346"/>
            <a:ext cx="4005039" cy="1053182"/>
          </a:xfrm>
          <a:prstGeom prst="roundRect">
            <a:avLst>
              <a:gd name="adj" fmla="val 5654"/>
            </a:avLst>
          </a:prstGeom>
          <a:solidFill>
            <a:srgbClr val="E6DED2">
              <a:alpha val="50000"/>
            </a:srgbClr>
          </a:solidFill>
          <a:ln w="4763">
            <a:solidFill>
              <a:srgbClr val="CCC4B8"/>
            </a:solidFill>
            <a:prstDash val="solid"/>
          </a:ln>
          <a:effectLst>
            <a:outerShdw blurRad="101600" dist="17780" dir="2700000" algn="bl" rotWithShape="0">
              <a:srgbClr val="CCC4B8">
                <a:alpha val="100000"/>
              </a:srgbClr>
            </a:outerShdw>
          </a:effectLst>
        </p:spPr>
        <p:txBody>
          <a:bodyPr/>
          <a:lstStyle/>
          <a:p>
            <a:endParaRPr lang="fr-FR"/>
          </a:p>
        </p:txBody>
      </p:sp>
      <p:sp>
        <p:nvSpPr>
          <p:cNvPr id="15" name="Text 13">
            <a:extLst>
              <a:ext uri="{FF2B5EF4-FFF2-40B4-BE49-F238E27FC236}">
                <a16:creationId xmlns:a16="http://schemas.microsoft.com/office/drawing/2014/main" id="{13A8E17C-02BA-4AD3-A253-1E51192159D6}"/>
              </a:ext>
            </a:extLst>
          </p:cNvPr>
          <p:cNvSpPr>
            <a:spLocks noGrp="1"/>
          </p:cNvSpPr>
          <p:nvPr/>
        </p:nvSpPr>
        <p:spPr>
          <a:xfrm>
            <a:off x="4789363" y="3391867"/>
            <a:ext cx="1875979" cy="221456"/>
          </a:xfrm>
          <a:prstGeom prst="rect">
            <a:avLst/>
          </a:prstGeom>
          <a:noFill/>
        </p:spPr>
        <p:txBody>
          <a:bodyPr wrap="none" lIns="0" tIns="0" rIns="0" bIns="0" anchor="t"/>
          <a:lstStyle/>
          <a:p>
            <a:pPr marL="0" indent="0" algn="l">
              <a:lnSpc>
                <a:spcPct val="104000"/>
              </a:lnSpc>
              <a:buNone/>
            </a:pPr>
            <a:r>
              <a:rPr sz="1350">
                <a:solidFill>
                  <a:srgbClr val="000000"/>
                </a:solidFill>
                <a:latin typeface="Noto Serif Medium"/>
                <a:ea typeface="Noto Serif Medium"/>
                <a:cs typeface="Noto Serif Medium"/>
              </a:rPr>
              <a:t>4. Données dispersées</a:t>
            </a:r>
          </a:p>
        </p:txBody>
      </p:sp>
      <p:sp>
        <p:nvSpPr>
          <p:cNvPr id="16" name="Text 14">
            <a:extLst>
              <a:ext uri="{FF2B5EF4-FFF2-40B4-BE49-F238E27FC236}">
                <a16:creationId xmlns:a16="http://schemas.microsoft.com/office/drawing/2014/main" id="{99446AF4-AC61-4B19-9EFC-FC5C965B6E7B}"/>
              </a:ext>
            </a:extLst>
          </p:cNvPr>
          <p:cNvSpPr>
            <a:spLocks noGrp="1"/>
          </p:cNvSpPr>
          <p:nvPr/>
        </p:nvSpPr>
        <p:spPr>
          <a:xfrm>
            <a:off x="4789363" y="3698379"/>
            <a:ext cx="3711997" cy="453628"/>
          </a:xfrm>
          <a:prstGeom prst="rect">
            <a:avLst/>
          </a:prstGeom>
          <a:noFill/>
        </p:spPr>
        <p:txBody>
          <a:bodyPr wrap="square" lIns="0" tIns="0" rIns="0" bIns="0" anchor="t">
            <a:normAutofit/>
          </a:bodyPr>
          <a:lstStyle/>
          <a:p>
            <a:pPr marL="0" indent="0" algn="l">
              <a:lnSpc>
                <a:spcPct val="133000"/>
              </a:lnSpc>
              <a:buNone/>
            </a:pPr>
            <a:r>
              <a:rPr sz="1100">
                <a:solidFill>
                  <a:srgbClr val="000000"/>
                </a:solidFill>
                <a:latin typeface="Noto Serif"/>
                <a:ea typeface="Noto Serif"/>
                <a:cs typeface="Noto Serif"/>
              </a:rPr>
              <a:t>Données dispersées dans des outils incompatibles - vision financière toujours parcellaire et en retard.</a:t>
            </a:r>
          </a:p>
        </p:txBody>
      </p:sp>
    </p:spTree>
    <p:extLst>
      <p:ext uri="{BB962C8B-B14F-4D97-AF65-F5344CB8AC3E}">
        <p14:creationId xmlns:p14="http://schemas.microsoft.com/office/powerpoint/2010/main" val="8170167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2B9B76C-7E92-4417-942B-864F8FCCDF47}"/>
              </a:ext>
            </a:extLst>
          </p:cNvPr>
          <p:cNvSpPr>
            <a:spLocks noGrp="1"/>
          </p:cNvSpPr>
          <p:nvPr/>
        </p:nvSpPr>
        <p:spPr>
          <a:xfrm>
            <a:off x="496119" y="395734"/>
            <a:ext cx="8151763" cy="802928"/>
          </a:xfrm>
          <a:prstGeom prst="rect">
            <a:avLst/>
          </a:prstGeom>
          <a:noFill/>
        </p:spPr>
        <p:txBody>
          <a:bodyPr wrap="square" lIns="0" tIns="0" rIns="0" bIns="0" anchor="t">
            <a:normAutofit/>
          </a:bodyPr>
          <a:lstStyle/>
          <a:p>
            <a:pPr marL="0" indent="0" algn="l">
              <a:lnSpc>
                <a:spcPct val="104000"/>
              </a:lnSpc>
              <a:buNone/>
            </a:pPr>
            <a:r>
              <a:rPr sz="2500" dirty="0">
                <a:solidFill>
                  <a:srgbClr val="3A3A3A"/>
                </a:solidFill>
                <a:latin typeface="Noto Serif Medium"/>
                <a:ea typeface="Noto Serif Medium"/>
                <a:cs typeface="Noto Serif Medium"/>
              </a:rPr>
              <a:t>Architecture </a:t>
            </a:r>
            <a:r>
              <a:rPr sz="2500" dirty="0" err="1">
                <a:solidFill>
                  <a:srgbClr val="3A3A3A"/>
                </a:solidFill>
                <a:latin typeface="Noto Serif Medium"/>
                <a:ea typeface="Noto Serif Medium"/>
                <a:cs typeface="Noto Serif Medium"/>
              </a:rPr>
              <a:t>fonctionnelle</a:t>
            </a:r>
            <a:r>
              <a:rPr sz="2500" dirty="0">
                <a:solidFill>
                  <a:srgbClr val="3A3A3A"/>
                </a:solidFill>
                <a:latin typeface="Noto Serif Medium"/>
                <a:ea typeface="Noto Serif Medium"/>
                <a:cs typeface="Noto Serif Medium"/>
              </a:rPr>
              <a:t> : les 4 modules</a:t>
            </a:r>
            <a:r>
              <a:rPr lang="fr-FR" sz="2500" dirty="0">
                <a:solidFill>
                  <a:srgbClr val="3A3A3A"/>
                </a:solidFill>
                <a:latin typeface="Noto Serif Medium"/>
                <a:ea typeface="Noto Serif Medium"/>
                <a:cs typeface="Noto Serif Medium"/>
              </a:rPr>
              <a:t> / blocs</a:t>
            </a:r>
            <a:r>
              <a:rPr sz="2500" dirty="0">
                <a:solidFill>
                  <a:srgbClr val="3A3A3A"/>
                </a:solidFill>
                <a:latin typeface="Noto Serif Medium"/>
                <a:ea typeface="Noto Serif Medium"/>
                <a:cs typeface="Noto Serif Medium"/>
              </a:rPr>
              <a:t> de </a:t>
            </a:r>
            <a:r>
              <a:rPr sz="2500" dirty="0" err="1">
                <a:solidFill>
                  <a:srgbClr val="3A3A3A"/>
                </a:solidFill>
                <a:latin typeface="Noto Serif Medium"/>
                <a:ea typeface="Noto Serif Medium"/>
                <a:cs typeface="Noto Serif Medium"/>
              </a:rPr>
              <a:t>RestoLens</a:t>
            </a:r>
            <a:endParaRPr sz="2500" dirty="0">
              <a:solidFill>
                <a:srgbClr val="3A3A3A"/>
              </a:solidFill>
              <a:latin typeface="Noto Serif Medium"/>
              <a:ea typeface="Noto Serif Medium"/>
              <a:cs typeface="Noto Serif Medium"/>
            </a:endParaRPr>
          </a:p>
        </p:txBody>
      </p:sp>
      <p:pic>
        <p:nvPicPr>
          <p:cNvPr id="5" name="Image 0"/>
          <p:cNvPicPr>
            <a:picLocks noChangeAspect="1"/>
          </p:cNvPicPr>
          <p:nvPr/>
        </p:nvPicPr>
        <p:blipFill>
          <a:blip r:embed="rId3"/>
          <a:stretch>
            <a:fillRect/>
          </a:stretch>
        </p:blipFill>
        <p:spPr>
          <a:xfrm>
            <a:off x="496119" y="1431503"/>
            <a:ext cx="8037761" cy="3316263"/>
          </a:xfrm>
          <a:prstGeom prst="rect">
            <a:avLst/>
          </a:prstGeom>
        </p:spPr>
      </p:pic>
    </p:spTree>
    <p:extLst>
      <p:ext uri="{BB962C8B-B14F-4D97-AF65-F5344CB8AC3E}">
        <p14:creationId xmlns:p14="http://schemas.microsoft.com/office/powerpoint/2010/main" val="132470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 coins arrondis 34"/>
          <p:cNvSpPr>
            <a:spLocks noGrp="1"/>
          </p:cNvSpPr>
          <p:nvPr/>
        </p:nvSpPr>
        <p:spPr>
          <a:xfrm>
            <a:off x="495299" y="514349"/>
            <a:ext cx="1306407" cy="333375"/>
          </a:xfrm>
          <a:prstGeom prst="roundRect">
            <a:avLst>
              <a:gd name="adj" fmla="val 21429"/>
            </a:avLst>
          </a:prstGeom>
          <a:solidFill>
            <a:srgbClr val="E8E6E3"/>
          </a:solidFill>
          <a:ln w="0">
            <a:noFill/>
            <a:prstDash val="solid"/>
          </a:ln>
        </p:spPr>
        <p:txBody>
          <a:bodyPr/>
          <a:lstStyle/>
          <a:p>
            <a:endParaRPr lang="fr-FR"/>
          </a:p>
        </p:txBody>
      </p:sp>
      <p:sp>
        <p:nvSpPr>
          <p:cNvPr id="2" name="Rectangle 1"/>
          <p:cNvSpPr>
            <a:spLocks noGrp="1"/>
          </p:cNvSpPr>
          <p:nvPr/>
        </p:nvSpPr>
        <p:spPr>
          <a:xfrm>
            <a:off x="685800" y="590550"/>
            <a:ext cx="1047750" cy="152400"/>
          </a:xfrm>
          <a:prstGeom prst="rect">
            <a:avLst/>
          </a:prstGeom>
          <a:noFill/>
          <a:ln w="0">
            <a:noFill/>
            <a:prstDash val="solid"/>
          </a:ln>
        </p:spPr>
        <p:txBody>
          <a:bodyPr wrap="none"/>
          <a:lstStyle/>
          <a:p>
            <a:pPr>
              <a:defRPr sz="788" b="1">
                <a:solidFill>
                  <a:srgbClr val="9C9283"/>
                </a:solidFill>
                <a:latin typeface="Noto Serif"/>
                <a:ea typeface="Noto Serif"/>
                <a:cs typeface="Noto Serif"/>
              </a:defRPr>
            </a:pPr>
            <a:r>
              <a:rPr sz="788" b="1" dirty="0">
                <a:solidFill>
                  <a:srgbClr val="9C9283"/>
                </a:solidFill>
                <a:latin typeface="Noto Serif"/>
                <a:ea typeface="Noto Serif"/>
                <a:cs typeface="Noto Serif"/>
              </a:rPr>
              <a:t>DASHBOARD</a:t>
            </a:r>
          </a:p>
        </p:txBody>
      </p:sp>
      <p:sp>
        <p:nvSpPr>
          <p:cNvPr id="3" name="Rectangle 2"/>
          <p:cNvSpPr>
            <a:spLocks noGrp="1"/>
          </p:cNvSpPr>
          <p:nvPr/>
        </p:nvSpPr>
        <p:spPr>
          <a:xfrm>
            <a:off x="495300" y="876300"/>
            <a:ext cx="6858000" cy="476250"/>
          </a:xfrm>
          <a:prstGeom prst="rect">
            <a:avLst/>
          </a:prstGeom>
          <a:noFill/>
          <a:ln w="0">
            <a:noFill/>
            <a:prstDash val="solid"/>
          </a:ln>
        </p:spPr>
        <p:txBody>
          <a:bodyPr wrap="none"/>
          <a:lstStyle/>
          <a:p>
            <a:pPr>
              <a:defRPr sz="2550" b="0">
                <a:solidFill>
                  <a:srgbClr val="3A3A3A"/>
                </a:solidFill>
                <a:latin typeface="Noto Serif Medium"/>
                <a:ea typeface="Noto Serif Medium"/>
                <a:cs typeface="Noto Serif Medium"/>
              </a:defRPr>
            </a:pPr>
            <a:r>
              <a:rPr sz="2550" b="0">
                <a:solidFill>
                  <a:srgbClr val="3A3A3A"/>
                </a:solidFill>
                <a:latin typeface="Noto Serif Medium"/>
                <a:ea typeface="Noto Serif Medium"/>
                <a:cs typeface="Noto Serif Medium"/>
              </a:rPr>
              <a:t>Tout ce que contient le Dashboard</a:t>
            </a:r>
          </a:p>
        </p:txBody>
      </p:sp>
      <p:sp>
        <p:nvSpPr>
          <p:cNvPr id="4" name="Rectangle 3"/>
          <p:cNvSpPr>
            <a:spLocks noGrp="1"/>
          </p:cNvSpPr>
          <p:nvPr/>
        </p:nvSpPr>
        <p:spPr>
          <a:xfrm>
            <a:off x="495300" y="1381125"/>
            <a:ext cx="7239000" cy="400050"/>
          </a:xfrm>
          <a:prstGeom prst="rect">
            <a:avLst/>
          </a:prstGeom>
          <a:noFill/>
          <a:ln w="0">
            <a:noFill/>
            <a:prstDash val="solid"/>
          </a:ln>
        </p:spPr>
        <p:txBody>
          <a:bodyPr wrap="square">
            <a:normAutofit/>
          </a:bodyPr>
          <a:lstStyle/>
          <a:p>
            <a:pPr>
              <a:defRPr sz="930" b="0">
                <a:solidFill>
                  <a:srgbClr val="4C4C4C"/>
                </a:solidFill>
                <a:latin typeface="Noto Serif"/>
                <a:ea typeface="Noto Serif"/>
                <a:cs typeface="Noto Serif"/>
              </a:defRPr>
            </a:pPr>
            <a:r>
              <a:rPr sz="930" b="0">
                <a:solidFill>
                  <a:srgbClr val="4C4C4C"/>
                </a:solidFill>
                <a:latin typeface="Noto Serif"/>
                <a:ea typeface="Noto Serif"/>
                <a:cs typeface="Noto Serif"/>
              </a:rPr>
              <a:t>Une seule interface centralise les données du restaurant et aide à anticiper ses décisions financières.</a:t>
            </a:r>
          </a:p>
        </p:txBody>
      </p:sp>
      <p:sp>
        <p:nvSpPr>
          <p:cNvPr id="5" name="Rectangle : coins arrondis 4"/>
          <p:cNvSpPr>
            <a:spLocks noGrp="1"/>
          </p:cNvSpPr>
          <p:nvPr/>
        </p:nvSpPr>
        <p:spPr>
          <a:xfrm>
            <a:off x="495300" y="1750000"/>
            <a:ext cx="2565400" cy="1450000"/>
          </a:xfrm>
          <a:prstGeom prst="roundRect">
            <a:avLst>
              <a:gd name="adj" fmla="val 4211"/>
            </a:avLst>
          </a:prstGeom>
          <a:solidFill>
            <a:srgbClr val="F6F2EB"/>
          </a:solidFill>
          <a:ln w="9525">
            <a:solidFill>
              <a:srgbClr val="D8D1C7"/>
            </a:solidFill>
            <a:prstDash val="solid"/>
          </a:ln>
        </p:spPr>
        <p:txBody>
          <a:bodyPr/>
          <a:lstStyle/>
          <a:p>
            <a:endParaRPr lang="fr-FR"/>
          </a:p>
        </p:txBody>
      </p:sp>
      <p:sp>
        <p:nvSpPr>
          <p:cNvPr id="6" name="Ellipse 5"/>
          <p:cNvSpPr>
            <a:spLocks noGrp="1"/>
          </p:cNvSpPr>
          <p:nvPr/>
        </p:nvSpPr>
        <p:spPr>
          <a:xfrm>
            <a:off x="647700" y="1883350"/>
            <a:ext cx="285750" cy="285750"/>
          </a:xfrm>
          <a:prstGeom prst="ellipse">
            <a:avLst/>
          </a:prstGeom>
          <a:solidFill>
            <a:srgbClr val="F0ECE6"/>
          </a:solidFill>
          <a:ln w="0">
            <a:noFill/>
            <a:prstDash val="solid"/>
          </a:ln>
        </p:spPr>
        <p:txBody>
          <a:bodyPr/>
          <a:lstStyle/>
          <a:p>
            <a:endParaRPr lang="fr-FR"/>
          </a:p>
        </p:txBody>
      </p:sp>
      <p:sp>
        <p:nvSpPr>
          <p:cNvPr id="7" name="Rectangle 6"/>
          <p:cNvSpPr>
            <a:spLocks noGrp="1"/>
          </p:cNvSpPr>
          <p:nvPr/>
        </p:nvSpPr>
        <p:spPr>
          <a:xfrm>
            <a:off x="647700" y="1930975"/>
            <a:ext cx="285750" cy="171450"/>
          </a:xfrm>
          <a:prstGeom prst="rect">
            <a:avLst/>
          </a:prstGeom>
          <a:noFill/>
          <a:ln w="0">
            <a:noFill/>
            <a:prstDash val="solid"/>
          </a:ln>
        </p:spPr>
        <p:txBody>
          <a:bodyPr wrap="none" anchor="ctr"/>
          <a:lstStyle/>
          <a:p>
            <a:pPr algn="ctr">
              <a:defRPr sz="975" b="0">
                <a:solidFill>
                  <a:srgbClr val="3A3A3A"/>
                </a:solidFill>
                <a:latin typeface="Noto Serif Medium"/>
                <a:ea typeface="Noto Serif Medium"/>
                <a:cs typeface="Noto Serif Medium"/>
              </a:defRPr>
            </a:pPr>
            <a:r>
              <a:rPr sz="975" b="0">
                <a:solidFill>
                  <a:srgbClr val="3A3A3A"/>
                </a:solidFill>
                <a:latin typeface="Noto Serif Medium"/>
                <a:ea typeface="Noto Serif Medium"/>
                <a:cs typeface="Noto Serif Medium"/>
              </a:rPr>
              <a:t>1</a:t>
            </a:r>
          </a:p>
        </p:txBody>
      </p:sp>
      <p:sp>
        <p:nvSpPr>
          <p:cNvPr id="8" name="Rectangle 7"/>
          <p:cNvSpPr>
            <a:spLocks noGrp="1"/>
          </p:cNvSpPr>
          <p:nvPr/>
        </p:nvSpPr>
        <p:spPr>
          <a:xfrm>
            <a:off x="1047750" y="1911925"/>
            <a:ext cx="1892950" cy="500000"/>
          </a:xfrm>
          <a:prstGeom prst="rect">
            <a:avLst/>
          </a:prstGeom>
          <a:noFill/>
          <a:ln w="0">
            <a:noFill/>
            <a:prstDash val="solid"/>
          </a:ln>
        </p:spPr>
        <p:txBody>
          <a:bodyPr wrap="square">
            <a:normAutofit fontScale="97696"/>
          </a:bodyPr>
          <a:lstStyle/>
          <a:p>
            <a:pPr>
              <a:defRPr sz="1275" b="0">
                <a:solidFill>
                  <a:srgbClr val="4C4C4C"/>
                </a:solidFill>
                <a:latin typeface="Noto Serif Medium"/>
                <a:ea typeface="Noto Serif Medium"/>
                <a:cs typeface="Noto Serif Medium"/>
              </a:defRPr>
            </a:pPr>
            <a:r>
              <a:rPr sz="1275" b="0">
                <a:solidFill>
                  <a:srgbClr val="4C4C4C"/>
                </a:solidFill>
                <a:latin typeface="Noto Serif Medium"/>
                <a:ea typeface="Noto Serif Medium"/>
                <a:cs typeface="Noto Serif Medium"/>
              </a:rPr>
              <a:t>OCR Intelligent</a:t>
            </a:r>
          </a:p>
        </p:txBody>
      </p:sp>
      <p:sp>
        <p:nvSpPr>
          <p:cNvPr id="9" name="Rectangle 8"/>
          <p:cNvSpPr>
            <a:spLocks noGrp="1"/>
          </p:cNvSpPr>
          <p:nvPr/>
        </p:nvSpPr>
        <p:spPr>
          <a:xfrm>
            <a:off x="685800" y="2302450"/>
            <a:ext cx="2184400" cy="429126"/>
          </a:xfrm>
          <a:prstGeom prst="rect">
            <a:avLst/>
          </a:prstGeom>
          <a:noFill/>
          <a:ln w="0">
            <a:noFill/>
            <a:prstDash val="solid"/>
          </a:ln>
        </p:spPr>
        <p:txBody>
          <a:bodyPr wrap="square">
            <a:normAutofit/>
          </a:bodyPr>
          <a:lstStyle/>
          <a:p>
            <a:pPr>
              <a:defRPr sz="900" b="0">
                <a:solidFill>
                  <a:srgbClr val="4C4C4C"/>
                </a:solidFill>
                <a:latin typeface="Noto Serif"/>
                <a:ea typeface="Noto Serif"/>
                <a:cs typeface="Noto Serif"/>
              </a:defRPr>
            </a:pPr>
            <a:r>
              <a:rPr sz="900" b="0" dirty="0">
                <a:solidFill>
                  <a:srgbClr val="4C4C4C"/>
                </a:solidFill>
                <a:latin typeface="Noto Serif"/>
                <a:ea typeface="Noto Serif"/>
                <a:cs typeface="Noto Serif"/>
              </a:rPr>
              <a:t>Lecture </a:t>
            </a:r>
            <a:r>
              <a:rPr sz="900" b="0" dirty="0" err="1">
                <a:solidFill>
                  <a:srgbClr val="4C4C4C"/>
                </a:solidFill>
                <a:latin typeface="Noto Serif"/>
                <a:ea typeface="Noto Serif"/>
                <a:cs typeface="Noto Serif"/>
              </a:rPr>
              <a:t>automatique</a:t>
            </a:r>
            <a:r>
              <a:rPr sz="900" b="0" dirty="0">
                <a:solidFill>
                  <a:srgbClr val="4C4C4C"/>
                </a:solidFill>
                <a:latin typeface="Noto Serif"/>
                <a:ea typeface="Noto Serif"/>
                <a:cs typeface="Noto Serif"/>
              </a:rPr>
              <a:t> des factures </a:t>
            </a:r>
            <a:r>
              <a:rPr sz="900" b="0" dirty="0" err="1">
                <a:solidFill>
                  <a:srgbClr val="4C4C4C"/>
                </a:solidFill>
                <a:latin typeface="Noto Serif"/>
                <a:ea typeface="Noto Serif"/>
                <a:cs typeface="Noto Serif"/>
              </a:rPr>
              <a:t>fournisseurs</a:t>
            </a:r>
            <a:r>
              <a:rPr sz="900" b="0" dirty="0">
                <a:solidFill>
                  <a:srgbClr val="4C4C4C"/>
                </a:solidFill>
                <a:latin typeface="Noto Serif"/>
                <a:ea typeface="Noto Serif"/>
                <a:cs typeface="Noto Serif"/>
              </a:rPr>
              <a:t> via AWS </a:t>
            </a:r>
            <a:r>
              <a:rPr sz="900" b="0" dirty="0" err="1">
                <a:solidFill>
                  <a:srgbClr val="4C4C4C"/>
                </a:solidFill>
                <a:latin typeface="Noto Serif"/>
                <a:ea typeface="Noto Serif"/>
                <a:cs typeface="Noto Serif"/>
              </a:rPr>
              <a:t>Textract</a:t>
            </a:r>
            <a:r>
              <a:rPr sz="900" b="0" dirty="0">
                <a:solidFill>
                  <a:srgbClr val="4C4C4C"/>
                </a:solidFill>
                <a:latin typeface="Noto Serif"/>
                <a:ea typeface="Noto Serif"/>
                <a:cs typeface="Noto Serif"/>
              </a:rPr>
              <a:t> </a:t>
            </a:r>
            <a:endParaRPr lang="fr-FR" sz="900" b="0" dirty="0">
              <a:solidFill>
                <a:srgbClr val="4C4C4C"/>
              </a:solidFill>
              <a:latin typeface="Noto Serif"/>
              <a:ea typeface="Noto Serif"/>
              <a:cs typeface="Noto Serif"/>
            </a:endParaRPr>
          </a:p>
        </p:txBody>
      </p:sp>
      <p:sp>
        <p:nvSpPr>
          <p:cNvPr id="10" name="Rectangle : coins arrondis 9"/>
          <p:cNvSpPr>
            <a:spLocks noGrp="1"/>
          </p:cNvSpPr>
          <p:nvPr/>
        </p:nvSpPr>
        <p:spPr>
          <a:xfrm>
            <a:off x="3289300" y="1750000"/>
            <a:ext cx="2565400" cy="1450000"/>
          </a:xfrm>
          <a:prstGeom prst="roundRect">
            <a:avLst>
              <a:gd name="adj" fmla="val 4211"/>
            </a:avLst>
          </a:prstGeom>
          <a:solidFill>
            <a:srgbClr val="F6F2EB"/>
          </a:solidFill>
          <a:ln w="9525">
            <a:solidFill>
              <a:srgbClr val="D8D1C7"/>
            </a:solidFill>
            <a:prstDash val="solid"/>
          </a:ln>
        </p:spPr>
        <p:txBody>
          <a:bodyPr/>
          <a:lstStyle/>
          <a:p>
            <a:endParaRPr lang="fr-FR"/>
          </a:p>
        </p:txBody>
      </p:sp>
      <p:sp>
        <p:nvSpPr>
          <p:cNvPr id="11" name="Ellipse 10"/>
          <p:cNvSpPr>
            <a:spLocks noGrp="1"/>
          </p:cNvSpPr>
          <p:nvPr/>
        </p:nvSpPr>
        <p:spPr>
          <a:xfrm>
            <a:off x="3441700" y="1883350"/>
            <a:ext cx="285750" cy="285750"/>
          </a:xfrm>
          <a:prstGeom prst="ellipse">
            <a:avLst/>
          </a:prstGeom>
          <a:solidFill>
            <a:srgbClr val="F0ECE6"/>
          </a:solidFill>
          <a:ln w="0">
            <a:noFill/>
            <a:prstDash val="solid"/>
          </a:ln>
        </p:spPr>
        <p:txBody>
          <a:bodyPr/>
          <a:lstStyle/>
          <a:p>
            <a:endParaRPr lang="fr-FR"/>
          </a:p>
        </p:txBody>
      </p:sp>
      <p:sp>
        <p:nvSpPr>
          <p:cNvPr id="12" name="Rectangle 11"/>
          <p:cNvSpPr>
            <a:spLocks noGrp="1"/>
          </p:cNvSpPr>
          <p:nvPr/>
        </p:nvSpPr>
        <p:spPr>
          <a:xfrm>
            <a:off x="3441700" y="1930975"/>
            <a:ext cx="285750" cy="171450"/>
          </a:xfrm>
          <a:prstGeom prst="rect">
            <a:avLst/>
          </a:prstGeom>
          <a:noFill/>
          <a:ln w="0">
            <a:noFill/>
            <a:prstDash val="solid"/>
          </a:ln>
        </p:spPr>
        <p:txBody>
          <a:bodyPr wrap="none" anchor="ctr"/>
          <a:lstStyle/>
          <a:p>
            <a:pPr algn="ctr">
              <a:defRPr sz="975" b="0">
                <a:solidFill>
                  <a:srgbClr val="3A3A3A"/>
                </a:solidFill>
                <a:latin typeface="Noto Serif Medium"/>
                <a:ea typeface="Noto Serif Medium"/>
                <a:cs typeface="Noto Serif Medium"/>
              </a:defRPr>
            </a:pPr>
            <a:r>
              <a:rPr sz="975" b="0">
                <a:solidFill>
                  <a:srgbClr val="3A3A3A"/>
                </a:solidFill>
                <a:latin typeface="Noto Serif Medium"/>
                <a:ea typeface="Noto Serif Medium"/>
                <a:cs typeface="Noto Serif Medium"/>
              </a:rPr>
              <a:t>2</a:t>
            </a:r>
          </a:p>
        </p:txBody>
      </p:sp>
      <p:sp>
        <p:nvSpPr>
          <p:cNvPr id="13" name="Rectangle 12"/>
          <p:cNvSpPr>
            <a:spLocks noGrp="1"/>
          </p:cNvSpPr>
          <p:nvPr/>
        </p:nvSpPr>
        <p:spPr>
          <a:xfrm>
            <a:off x="3841750" y="1911925"/>
            <a:ext cx="1892950" cy="500000"/>
          </a:xfrm>
          <a:prstGeom prst="rect">
            <a:avLst/>
          </a:prstGeom>
          <a:noFill/>
          <a:ln w="0">
            <a:noFill/>
            <a:prstDash val="solid"/>
          </a:ln>
        </p:spPr>
        <p:txBody>
          <a:bodyPr wrap="square">
            <a:normAutofit fontScale="97696"/>
          </a:bodyPr>
          <a:lstStyle/>
          <a:p>
            <a:pPr>
              <a:defRPr sz="1275" b="0">
                <a:solidFill>
                  <a:srgbClr val="4C4C4C"/>
                </a:solidFill>
                <a:latin typeface="Noto Serif Medium"/>
                <a:ea typeface="Noto Serif Medium"/>
                <a:cs typeface="Noto Serif Medium"/>
              </a:defRPr>
            </a:pPr>
            <a:r>
              <a:rPr sz="1275" b="0">
                <a:solidFill>
                  <a:srgbClr val="4C4C4C"/>
                </a:solidFill>
                <a:latin typeface="Noto Serif Medium"/>
                <a:ea typeface="Noto Serif Medium"/>
                <a:cs typeface="Noto Serif Medium"/>
              </a:rPr>
              <a:t>Prédiction du CA</a:t>
            </a:r>
          </a:p>
        </p:txBody>
      </p:sp>
      <p:sp>
        <p:nvSpPr>
          <p:cNvPr id="14" name="Rectangle 13"/>
          <p:cNvSpPr>
            <a:spLocks noGrp="1"/>
          </p:cNvSpPr>
          <p:nvPr/>
        </p:nvSpPr>
        <p:spPr>
          <a:xfrm>
            <a:off x="3479800" y="2302450"/>
            <a:ext cx="2184400" cy="797550"/>
          </a:xfrm>
          <a:prstGeom prst="rect">
            <a:avLst/>
          </a:prstGeom>
          <a:noFill/>
          <a:ln w="0">
            <a:noFill/>
            <a:prstDash val="solid"/>
          </a:ln>
        </p:spPr>
        <p:txBody>
          <a:bodyPr wrap="square">
            <a:normAutofit/>
          </a:bodyPr>
          <a:lstStyle/>
          <a:p>
            <a:pPr>
              <a:defRPr sz="900" b="0">
                <a:solidFill>
                  <a:srgbClr val="4C4C4C"/>
                </a:solidFill>
                <a:latin typeface="Noto Serif"/>
                <a:ea typeface="Noto Serif"/>
                <a:cs typeface="Noto Serif"/>
              </a:defRPr>
            </a:pPr>
            <a:r>
              <a:rPr sz="900" b="0" dirty="0">
                <a:solidFill>
                  <a:srgbClr val="4C4C4C"/>
                </a:solidFill>
                <a:latin typeface="Noto Serif"/>
                <a:ea typeface="Noto Serif"/>
                <a:cs typeface="Noto Serif"/>
              </a:rPr>
              <a:t>Un </a:t>
            </a:r>
            <a:r>
              <a:rPr sz="900" b="0" dirty="0" err="1">
                <a:solidFill>
                  <a:srgbClr val="4C4C4C"/>
                </a:solidFill>
                <a:latin typeface="Noto Serif"/>
                <a:ea typeface="Noto Serif"/>
                <a:cs typeface="Noto Serif"/>
              </a:rPr>
              <a:t>modèle</a:t>
            </a:r>
            <a:r>
              <a:rPr sz="900" b="0" dirty="0">
                <a:solidFill>
                  <a:srgbClr val="4C4C4C"/>
                </a:solidFill>
                <a:latin typeface="Noto Serif"/>
                <a:ea typeface="Noto Serif"/>
                <a:cs typeface="Noto Serif"/>
              </a:rPr>
              <a:t> Prophet (time series)</a:t>
            </a:r>
          </a:p>
        </p:txBody>
      </p:sp>
      <p:sp>
        <p:nvSpPr>
          <p:cNvPr id="15" name="Rectangle : coins arrondis 14"/>
          <p:cNvSpPr>
            <a:spLocks noGrp="1"/>
          </p:cNvSpPr>
          <p:nvPr/>
        </p:nvSpPr>
        <p:spPr>
          <a:xfrm>
            <a:off x="6083300" y="1750000"/>
            <a:ext cx="2565400" cy="1450000"/>
          </a:xfrm>
          <a:prstGeom prst="roundRect">
            <a:avLst>
              <a:gd name="adj" fmla="val 4211"/>
            </a:avLst>
          </a:prstGeom>
          <a:solidFill>
            <a:srgbClr val="F6F2EB"/>
          </a:solidFill>
          <a:ln w="9525">
            <a:solidFill>
              <a:srgbClr val="D8D1C7"/>
            </a:solidFill>
            <a:prstDash val="solid"/>
          </a:ln>
        </p:spPr>
        <p:txBody>
          <a:bodyPr/>
          <a:lstStyle/>
          <a:p>
            <a:endParaRPr lang="fr-FR"/>
          </a:p>
        </p:txBody>
      </p:sp>
      <p:sp>
        <p:nvSpPr>
          <p:cNvPr id="16" name="Ellipse 15"/>
          <p:cNvSpPr>
            <a:spLocks noGrp="1"/>
          </p:cNvSpPr>
          <p:nvPr/>
        </p:nvSpPr>
        <p:spPr>
          <a:xfrm>
            <a:off x="6235700" y="1883350"/>
            <a:ext cx="285750" cy="285750"/>
          </a:xfrm>
          <a:prstGeom prst="ellipse">
            <a:avLst/>
          </a:prstGeom>
          <a:solidFill>
            <a:srgbClr val="F0ECE6"/>
          </a:solidFill>
          <a:ln w="0">
            <a:noFill/>
            <a:prstDash val="solid"/>
          </a:ln>
        </p:spPr>
        <p:txBody>
          <a:bodyPr/>
          <a:lstStyle/>
          <a:p>
            <a:endParaRPr lang="fr-FR"/>
          </a:p>
        </p:txBody>
      </p:sp>
      <p:sp>
        <p:nvSpPr>
          <p:cNvPr id="17" name="Rectangle 16"/>
          <p:cNvSpPr>
            <a:spLocks noGrp="1"/>
          </p:cNvSpPr>
          <p:nvPr/>
        </p:nvSpPr>
        <p:spPr>
          <a:xfrm>
            <a:off x="6235700" y="1930975"/>
            <a:ext cx="285750" cy="171450"/>
          </a:xfrm>
          <a:prstGeom prst="rect">
            <a:avLst/>
          </a:prstGeom>
          <a:noFill/>
          <a:ln w="0">
            <a:noFill/>
            <a:prstDash val="solid"/>
          </a:ln>
        </p:spPr>
        <p:txBody>
          <a:bodyPr wrap="none" anchor="ctr"/>
          <a:lstStyle/>
          <a:p>
            <a:pPr algn="ctr">
              <a:defRPr sz="975" b="0">
                <a:solidFill>
                  <a:srgbClr val="3A3A3A"/>
                </a:solidFill>
                <a:latin typeface="Noto Serif Medium"/>
                <a:ea typeface="Noto Serif Medium"/>
                <a:cs typeface="Noto Serif Medium"/>
              </a:defRPr>
            </a:pPr>
            <a:r>
              <a:rPr sz="975" b="0">
                <a:solidFill>
                  <a:srgbClr val="3A3A3A"/>
                </a:solidFill>
                <a:latin typeface="Noto Serif Medium"/>
                <a:ea typeface="Noto Serif Medium"/>
                <a:cs typeface="Noto Serif Medium"/>
              </a:rPr>
              <a:t>3</a:t>
            </a:r>
          </a:p>
        </p:txBody>
      </p:sp>
      <p:sp>
        <p:nvSpPr>
          <p:cNvPr id="18" name="Rectangle 17"/>
          <p:cNvSpPr>
            <a:spLocks noGrp="1"/>
          </p:cNvSpPr>
          <p:nvPr/>
        </p:nvSpPr>
        <p:spPr>
          <a:xfrm>
            <a:off x="6635750" y="1911925"/>
            <a:ext cx="1892950" cy="500000"/>
          </a:xfrm>
          <a:prstGeom prst="rect">
            <a:avLst/>
          </a:prstGeom>
          <a:noFill/>
          <a:ln w="0">
            <a:noFill/>
            <a:prstDash val="solid"/>
          </a:ln>
        </p:spPr>
        <p:txBody>
          <a:bodyPr wrap="square">
            <a:normAutofit fontScale="97696"/>
          </a:bodyPr>
          <a:lstStyle/>
          <a:p>
            <a:pPr>
              <a:defRPr sz="1275" b="0">
                <a:solidFill>
                  <a:srgbClr val="4C4C4C"/>
                </a:solidFill>
                <a:latin typeface="Noto Serif Medium"/>
                <a:ea typeface="Noto Serif Medium"/>
                <a:cs typeface="Noto Serif Medium"/>
              </a:defRPr>
            </a:pPr>
            <a:r>
              <a:rPr sz="1275" b="0">
                <a:solidFill>
                  <a:srgbClr val="4C4C4C"/>
                </a:solidFill>
                <a:latin typeface="Noto Serif Medium"/>
                <a:ea typeface="Noto Serif Medium"/>
                <a:cs typeface="Noto Serif Medium"/>
              </a:rPr>
              <a:t>Centralisation des données</a:t>
            </a:r>
          </a:p>
        </p:txBody>
      </p:sp>
      <p:sp>
        <p:nvSpPr>
          <p:cNvPr id="19" name="Rectangle 18"/>
          <p:cNvSpPr>
            <a:spLocks noGrp="1"/>
          </p:cNvSpPr>
          <p:nvPr/>
        </p:nvSpPr>
        <p:spPr>
          <a:xfrm>
            <a:off x="6273800" y="2302450"/>
            <a:ext cx="2184400" cy="797550"/>
          </a:xfrm>
          <a:prstGeom prst="rect">
            <a:avLst/>
          </a:prstGeom>
          <a:noFill/>
          <a:ln w="0">
            <a:noFill/>
            <a:prstDash val="solid"/>
          </a:ln>
        </p:spPr>
        <p:txBody>
          <a:bodyPr wrap="square">
            <a:normAutofit/>
          </a:bodyPr>
          <a:lstStyle/>
          <a:p>
            <a:pPr>
              <a:defRPr sz="850" b="0">
                <a:solidFill>
                  <a:srgbClr val="4C4C4C"/>
                </a:solidFill>
                <a:latin typeface="Noto Serif"/>
                <a:ea typeface="Noto Serif"/>
                <a:cs typeface="Noto Serif"/>
              </a:defRPr>
            </a:pPr>
            <a:r>
              <a:rPr sz="850" b="0">
                <a:solidFill>
                  <a:srgbClr val="4C4C4C"/>
                </a:solidFill>
                <a:latin typeface="Noto Serif"/>
                <a:ea typeface="Noto Serif"/>
                <a:cs typeface="Noto Serif"/>
              </a:rPr>
              <a:t>Toutes les données financières au même endroit :</a:t>
            </a:r>
          </a:p>
          <a:p>
            <a:pPr>
              <a:defRPr sz="850" b="0">
                <a:solidFill>
                  <a:srgbClr val="4C4C4C"/>
                </a:solidFill>
                <a:latin typeface="Noto Serif"/>
                <a:ea typeface="Noto Serif"/>
                <a:cs typeface="Noto Serif"/>
              </a:defRPr>
            </a:pPr>
            <a:r>
              <a:rPr sz="850" b="0">
                <a:solidFill>
                  <a:srgbClr val="4C4C4C"/>
                </a:solidFill>
                <a:latin typeface="Noto Serif"/>
                <a:ea typeface="Noto Serif"/>
                <a:cs typeface="Noto Serif"/>
              </a:rPr>
              <a:t>→ CA journalier par canal</a:t>
            </a:r>
          </a:p>
          <a:p>
            <a:pPr>
              <a:defRPr sz="850" b="0">
                <a:solidFill>
                  <a:srgbClr val="4C4C4C"/>
                </a:solidFill>
                <a:latin typeface="Noto Serif"/>
                <a:ea typeface="Noto Serif"/>
                <a:cs typeface="Noto Serif"/>
              </a:defRPr>
            </a:pPr>
            <a:r>
              <a:rPr sz="850" b="0">
                <a:solidFill>
                  <a:srgbClr val="4C4C4C"/>
                </a:solidFill>
                <a:latin typeface="Noto Serif"/>
                <a:ea typeface="Noto Serif"/>
                <a:cs typeface="Noto Serif"/>
              </a:rPr>
              <a:t>→ Achats fournisseurs</a:t>
            </a:r>
          </a:p>
          <a:p>
            <a:pPr>
              <a:defRPr sz="850" b="0">
                <a:solidFill>
                  <a:srgbClr val="4C4C4C"/>
                </a:solidFill>
                <a:latin typeface="Noto Serif"/>
                <a:ea typeface="Noto Serif"/>
                <a:cs typeface="Noto Serif"/>
              </a:defRPr>
            </a:pPr>
            <a:r>
              <a:rPr sz="850" b="0">
                <a:solidFill>
                  <a:srgbClr val="4C4C4C"/>
                </a:solidFill>
                <a:latin typeface="Noto Serif"/>
                <a:ea typeface="Noto Serif"/>
                <a:cs typeface="Noto Serif"/>
              </a:rPr>
              <a:t>→ Charges fixes &amp; variables</a:t>
            </a:r>
          </a:p>
        </p:txBody>
      </p:sp>
      <p:sp>
        <p:nvSpPr>
          <p:cNvPr id="20" name="Rectangle : coins arrondis 19"/>
          <p:cNvSpPr>
            <a:spLocks noGrp="1"/>
          </p:cNvSpPr>
          <p:nvPr/>
        </p:nvSpPr>
        <p:spPr>
          <a:xfrm>
            <a:off x="495300" y="3300000"/>
            <a:ext cx="2565400" cy="1450000"/>
          </a:xfrm>
          <a:prstGeom prst="roundRect">
            <a:avLst>
              <a:gd name="adj" fmla="val 4211"/>
            </a:avLst>
          </a:prstGeom>
          <a:solidFill>
            <a:srgbClr val="F6F2EB"/>
          </a:solidFill>
          <a:ln w="9525">
            <a:solidFill>
              <a:srgbClr val="D8D1C7"/>
            </a:solidFill>
            <a:prstDash val="solid"/>
          </a:ln>
        </p:spPr>
        <p:txBody>
          <a:bodyPr/>
          <a:lstStyle/>
          <a:p>
            <a:endParaRPr lang="fr-FR"/>
          </a:p>
        </p:txBody>
      </p:sp>
      <p:sp>
        <p:nvSpPr>
          <p:cNvPr id="21" name="Ellipse 20"/>
          <p:cNvSpPr>
            <a:spLocks noGrp="1"/>
          </p:cNvSpPr>
          <p:nvPr/>
        </p:nvSpPr>
        <p:spPr>
          <a:xfrm>
            <a:off x="647700" y="3433350"/>
            <a:ext cx="285750" cy="285750"/>
          </a:xfrm>
          <a:prstGeom prst="ellipse">
            <a:avLst/>
          </a:prstGeom>
          <a:solidFill>
            <a:srgbClr val="F0ECE6"/>
          </a:solidFill>
          <a:ln w="0">
            <a:noFill/>
            <a:prstDash val="solid"/>
          </a:ln>
        </p:spPr>
        <p:txBody>
          <a:bodyPr/>
          <a:lstStyle/>
          <a:p>
            <a:endParaRPr lang="fr-FR"/>
          </a:p>
        </p:txBody>
      </p:sp>
      <p:sp>
        <p:nvSpPr>
          <p:cNvPr id="22" name="Rectangle 21"/>
          <p:cNvSpPr>
            <a:spLocks noGrp="1"/>
          </p:cNvSpPr>
          <p:nvPr/>
        </p:nvSpPr>
        <p:spPr>
          <a:xfrm>
            <a:off x="647700" y="3480975"/>
            <a:ext cx="285750" cy="171450"/>
          </a:xfrm>
          <a:prstGeom prst="rect">
            <a:avLst/>
          </a:prstGeom>
          <a:noFill/>
          <a:ln w="0">
            <a:noFill/>
            <a:prstDash val="solid"/>
          </a:ln>
        </p:spPr>
        <p:txBody>
          <a:bodyPr wrap="none" anchor="ctr"/>
          <a:lstStyle/>
          <a:p>
            <a:pPr algn="ctr">
              <a:defRPr sz="975" b="0">
                <a:solidFill>
                  <a:srgbClr val="3A3A3A"/>
                </a:solidFill>
                <a:latin typeface="Noto Serif Medium"/>
                <a:ea typeface="Noto Serif Medium"/>
                <a:cs typeface="Noto Serif Medium"/>
              </a:defRPr>
            </a:pPr>
            <a:r>
              <a:rPr sz="975" b="0">
                <a:solidFill>
                  <a:srgbClr val="3A3A3A"/>
                </a:solidFill>
                <a:latin typeface="Noto Serif Medium"/>
                <a:ea typeface="Noto Serif Medium"/>
                <a:cs typeface="Noto Serif Medium"/>
              </a:rPr>
              <a:t>4</a:t>
            </a:r>
          </a:p>
        </p:txBody>
      </p:sp>
      <p:sp>
        <p:nvSpPr>
          <p:cNvPr id="23" name="Rectangle 22"/>
          <p:cNvSpPr>
            <a:spLocks noGrp="1"/>
          </p:cNvSpPr>
          <p:nvPr/>
        </p:nvSpPr>
        <p:spPr>
          <a:xfrm>
            <a:off x="1047750" y="3461925"/>
            <a:ext cx="1892950" cy="500000"/>
          </a:xfrm>
          <a:prstGeom prst="rect">
            <a:avLst/>
          </a:prstGeom>
          <a:noFill/>
          <a:ln w="0">
            <a:noFill/>
            <a:prstDash val="solid"/>
          </a:ln>
        </p:spPr>
        <p:txBody>
          <a:bodyPr wrap="square">
            <a:normAutofit fontScale="97696"/>
          </a:bodyPr>
          <a:lstStyle/>
          <a:p>
            <a:pPr>
              <a:defRPr sz="1275" b="0">
                <a:solidFill>
                  <a:srgbClr val="4C4C4C"/>
                </a:solidFill>
                <a:latin typeface="Noto Serif Medium"/>
                <a:ea typeface="Noto Serif Medium"/>
                <a:cs typeface="Noto Serif Medium"/>
              </a:defRPr>
            </a:pPr>
            <a:r>
              <a:rPr sz="1275" b="0">
                <a:solidFill>
                  <a:srgbClr val="4C4C4C"/>
                </a:solidFill>
                <a:latin typeface="Noto Serif Medium"/>
                <a:ea typeface="Noto Serif Medium"/>
                <a:cs typeface="Noto Serif Medium"/>
              </a:rPr>
              <a:t>Assistant IA</a:t>
            </a:r>
          </a:p>
        </p:txBody>
      </p:sp>
      <p:sp>
        <p:nvSpPr>
          <p:cNvPr id="24" name="Rectangle 23"/>
          <p:cNvSpPr>
            <a:spLocks noGrp="1"/>
          </p:cNvSpPr>
          <p:nvPr/>
        </p:nvSpPr>
        <p:spPr>
          <a:xfrm>
            <a:off x="685800" y="3852450"/>
            <a:ext cx="2184400" cy="797550"/>
          </a:xfrm>
          <a:prstGeom prst="rect">
            <a:avLst/>
          </a:prstGeom>
          <a:noFill/>
          <a:ln w="0">
            <a:noFill/>
            <a:prstDash val="solid"/>
          </a:ln>
        </p:spPr>
        <p:txBody>
          <a:bodyPr wrap="square">
            <a:normAutofit/>
          </a:bodyPr>
          <a:lstStyle/>
          <a:p>
            <a:pPr>
              <a:defRPr sz="900" b="0">
                <a:solidFill>
                  <a:srgbClr val="4C4C4C"/>
                </a:solidFill>
                <a:latin typeface="Noto Serif"/>
                <a:ea typeface="Noto Serif"/>
                <a:cs typeface="Noto Serif"/>
              </a:defRPr>
            </a:pPr>
            <a:r>
              <a:rPr sz="900" b="0" dirty="0">
                <a:solidFill>
                  <a:srgbClr val="4C4C4C"/>
                </a:solidFill>
                <a:latin typeface="Noto Serif"/>
                <a:ea typeface="Noto Serif"/>
                <a:cs typeface="Noto Serif"/>
              </a:rPr>
              <a:t>Un chatbot </a:t>
            </a:r>
            <a:r>
              <a:rPr sz="900" b="0" dirty="0" err="1">
                <a:solidFill>
                  <a:srgbClr val="4C4C4C"/>
                </a:solidFill>
                <a:latin typeface="Noto Serif"/>
                <a:ea typeface="Noto Serif"/>
                <a:cs typeface="Noto Serif"/>
              </a:rPr>
              <a:t>connecté</a:t>
            </a:r>
            <a:r>
              <a:rPr sz="900" b="0" dirty="0">
                <a:solidFill>
                  <a:srgbClr val="4C4C4C"/>
                </a:solidFill>
                <a:latin typeface="Noto Serif"/>
                <a:ea typeface="Noto Serif"/>
                <a:cs typeface="Noto Serif"/>
              </a:rPr>
              <a:t> aux </a:t>
            </a:r>
            <a:r>
              <a:rPr lang="fr-FR" sz="900" dirty="0">
                <a:solidFill>
                  <a:srgbClr val="4C4C4C"/>
                </a:solidFill>
                <a:latin typeface="Noto Serif"/>
                <a:ea typeface="Noto Serif"/>
                <a:cs typeface="Noto Serif"/>
              </a:rPr>
              <a:t>BDD</a:t>
            </a:r>
            <a:endParaRPr sz="900" b="0" dirty="0">
              <a:solidFill>
                <a:srgbClr val="4C4C4C"/>
              </a:solidFill>
              <a:latin typeface="Noto Serif"/>
              <a:ea typeface="Noto Serif"/>
              <a:cs typeface="Noto Serif"/>
            </a:endParaRPr>
          </a:p>
        </p:txBody>
      </p:sp>
      <p:sp>
        <p:nvSpPr>
          <p:cNvPr id="25" name="Rectangle : coins arrondis 24"/>
          <p:cNvSpPr>
            <a:spLocks noGrp="1"/>
          </p:cNvSpPr>
          <p:nvPr/>
        </p:nvSpPr>
        <p:spPr>
          <a:xfrm>
            <a:off x="3289300" y="3300000"/>
            <a:ext cx="2565400" cy="1450000"/>
          </a:xfrm>
          <a:prstGeom prst="roundRect">
            <a:avLst>
              <a:gd name="adj" fmla="val 4211"/>
            </a:avLst>
          </a:prstGeom>
          <a:solidFill>
            <a:srgbClr val="F6F2EB"/>
          </a:solidFill>
          <a:ln w="9525">
            <a:solidFill>
              <a:srgbClr val="D8D1C7"/>
            </a:solidFill>
            <a:prstDash val="solid"/>
          </a:ln>
        </p:spPr>
        <p:txBody>
          <a:bodyPr/>
          <a:lstStyle/>
          <a:p>
            <a:endParaRPr lang="fr-FR"/>
          </a:p>
        </p:txBody>
      </p:sp>
      <p:sp>
        <p:nvSpPr>
          <p:cNvPr id="26" name="Ellipse 25"/>
          <p:cNvSpPr>
            <a:spLocks noGrp="1"/>
          </p:cNvSpPr>
          <p:nvPr/>
        </p:nvSpPr>
        <p:spPr>
          <a:xfrm>
            <a:off x="3441700" y="3433350"/>
            <a:ext cx="285750" cy="285750"/>
          </a:xfrm>
          <a:prstGeom prst="ellipse">
            <a:avLst/>
          </a:prstGeom>
          <a:solidFill>
            <a:srgbClr val="F0ECE6"/>
          </a:solidFill>
          <a:ln w="0">
            <a:noFill/>
            <a:prstDash val="solid"/>
          </a:ln>
        </p:spPr>
        <p:txBody>
          <a:bodyPr/>
          <a:lstStyle/>
          <a:p>
            <a:endParaRPr lang="fr-FR"/>
          </a:p>
        </p:txBody>
      </p:sp>
      <p:sp>
        <p:nvSpPr>
          <p:cNvPr id="27" name="Rectangle 26"/>
          <p:cNvSpPr>
            <a:spLocks noGrp="1"/>
          </p:cNvSpPr>
          <p:nvPr/>
        </p:nvSpPr>
        <p:spPr>
          <a:xfrm>
            <a:off x="3441700" y="3480975"/>
            <a:ext cx="285750" cy="171450"/>
          </a:xfrm>
          <a:prstGeom prst="rect">
            <a:avLst/>
          </a:prstGeom>
          <a:noFill/>
          <a:ln w="0">
            <a:noFill/>
            <a:prstDash val="solid"/>
          </a:ln>
        </p:spPr>
        <p:txBody>
          <a:bodyPr wrap="none" anchor="ctr"/>
          <a:lstStyle/>
          <a:p>
            <a:pPr algn="ctr">
              <a:defRPr sz="975" b="0">
                <a:solidFill>
                  <a:srgbClr val="3A3A3A"/>
                </a:solidFill>
                <a:latin typeface="Noto Serif Medium"/>
                <a:ea typeface="Noto Serif Medium"/>
                <a:cs typeface="Noto Serif Medium"/>
              </a:defRPr>
            </a:pPr>
            <a:r>
              <a:rPr sz="975" b="0">
                <a:solidFill>
                  <a:srgbClr val="3A3A3A"/>
                </a:solidFill>
                <a:latin typeface="Noto Serif Medium"/>
                <a:ea typeface="Noto Serif Medium"/>
                <a:cs typeface="Noto Serif Medium"/>
              </a:rPr>
              <a:t>5</a:t>
            </a:r>
          </a:p>
        </p:txBody>
      </p:sp>
      <p:sp>
        <p:nvSpPr>
          <p:cNvPr id="28" name="Rectangle 27"/>
          <p:cNvSpPr>
            <a:spLocks noGrp="1"/>
          </p:cNvSpPr>
          <p:nvPr/>
        </p:nvSpPr>
        <p:spPr>
          <a:xfrm>
            <a:off x="3841750" y="3461925"/>
            <a:ext cx="1892950" cy="500000"/>
          </a:xfrm>
          <a:prstGeom prst="rect">
            <a:avLst/>
          </a:prstGeom>
          <a:noFill/>
          <a:ln w="0">
            <a:noFill/>
            <a:prstDash val="solid"/>
          </a:ln>
        </p:spPr>
        <p:txBody>
          <a:bodyPr wrap="square">
            <a:normAutofit fontScale="97696"/>
          </a:bodyPr>
          <a:lstStyle/>
          <a:p>
            <a:pPr>
              <a:defRPr sz="1275" b="0">
                <a:solidFill>
                  <a:srgbClr val="4C4C4C"/>
                </a:solidFill>
                <a:latin typeface="Noto Serif Medium"/>
                <a:ea typeface="Noto Serif Medium"/>
                <a:cs typeface="Noto Serif Medium"/>
              </a:defRPr>
            </a:pPr>
            <a:r>
              <a:rPr sz="1275" b="0">
                <a:solidFill>
                  <a:srgbClr val="4C4C4C"/>
                </a:solidFill>
                <a:latin typeface="Noto Serif Medium"/>
                <a:ea typeface="Noto Serif Medium"/>
                <a:cs typeface="Noto Serif Medium"/>
              </a:rPr>
              <a:t>Alertes Prix Matières Premières</a:t>
            </a:r>
          </a:p>
        </p:txBody>
      </p:sp>
      <p:sp>
        <p:nvSpPr>
          <p:cNvPr id="29" name="Rectangle 28"/>
          <p:cNvSpPr>
            <a:spLocks noGrp="1"/>
          </p:cNvSpPr>
          <p:nvPr/>
        </p:nvSpPr>
        <p:spPr>
          <a:xfrm>
            <a:off x="3479800" y="3852450"/>
            <a:ext cx="2184400" cy="797550"/>
          </a:xfrm>
          <a:prstGeom prst="rect">
            <a:avLst/>
          </a:prstGeom>
          <a:noFill/>
          <a:ln w="0">
            <a:noFill/>
            <a:prstDash val="solid"/>
          </a:ln>
        </p:spPr>
        <p:txBody>
          <a:bodyPr wrap="square">
            <a:normAutofit/>
          </a:bodyPr>
          <a:lstStyle/>
          <a:p>
            <a:pPr>
              <a:defRPr sz="900" b="0">
                <a:solidFill>
                  <a:srgbClr val="4C4C4C"/>
                </a:solidFill>
                <a:latin typeface="Noto Serif"/>
                <a:ea typeface="Noto Serif"/>
                <a:cs typeface="Noto Serif"/>
              </a:defRPr>
            </a:pPr>
            <a:r>
              <a:rPr sz="900" b="0" dirty="0">
                <a:solidFill>
                  <a:srgbClr val="4C4C4C"/>
                </a:solidFill>
                <a:latin typeface="Noto Serif"/>
                <a:ea typeface="Noto Serif"/>
                <a:cs typeface="Noto Serif"/>
              </a:rPr>
              <a:t>Le dashboard </a:t>
            </a:r>
            <a:r>
              <a:rPr sz="900" b="0" dirty="0" err="1">
                <a:solidFill>
                  <a:srgbClr val="4C4C4C"/>
                </a:solidFill>
                <a:latin typeface="Noto Serif"/>
                <a:ea typeface="Noto Serif"/>
                <a:cs typeface="Noto Serif"/>
              </a:rPr>
              <a:t>détecte</a:t>
            </a:r>
            <a:r>
              <a:rPr sz="900" b="0" dirty="0">
                <a:solidFill>
                  <a:srgbClr val="4C4C4C"/>
                </a:solidFill>
                <a:latin typeface="Noto Serif"/>
                <a:ea typeface="Noto Serif"/>
                <a:cs typeface="Noto Serif"/>
              </a:rPr>
              <a:t> les </a:t>
            </a:r>
            <a:r>
              <a:rPr sz="900" b="0" dirty="0" err="1">
                <a:solidFill>
                  <a:srgbClr val="4C4C4C"/>
                </a:solidFill>
                <a:latin typeface="Noto Serif"/>
                <a:ea typeface="Noto Serif"/>
                <a:cs typeface="Noto Serif"/>
              </a:rPr>
              <a:t>hausses</a:t>
            </a:r>
            <a:r>
              <a:rPr sz="900" b="0" dirty="0">
                <a:solidFill>
                  <a:srgbClr val="4C4C4C"/>
                </a:solidFill>
                <a:latin typeface="Noto Serif"/>
                <a:ea typeface="Noto Serif"/>
                <a:cs typeface="Noto Serif"/>
              </a:rPr>
              <a:t> de prix chez les </a:t>
            </a:r>
            <a:r>
              <a:rPr sz="900" b="0" dirty="0" err="1">
                <a:solidFill>
                  <a:srgbClr val="4C4C4C"/>
                </a:solidFill>
                <a:latin typeface="Noto Serif"/>
                <a:ea typeface="Noto Serif"/>
                <a:cs typeface="Noto Serif"/>
              </a:rPr>
              <a:t>fournisseurs</a:t>
            </a:r>
            <a:endParaRPr sz="900" b="0" dirty="0">
              <a:solidFill>
                <a:srgbClr val="4C4C4C"/>
              </a:solidFill>
              <a:latin typeface="Noto Serif"/>
              <a:ea typeface="Noto Serif"/>
              <a:cs typeface="Noto Serif"/>
            </a:endParaRPr>
          </a:p>
        </p:txBody>
      </p:sp>
      <p:sp>
        <p:nvSpPr>
          <p:cNvPr id="30" name="Rectangle : coins arrondis 29"/>
          <p:cNvSpPr>
            <a:spLocks noGrp="1"/>
          </p:cNvSpPr>
          <p:nvPr/>
        </p:nvSpPr>
        <p:spPr>
          <a:xfrm>
            <a:off x="6083300" y="3300000"/>
            <a:ext cx="2565400" cy="1450000"/>
          </a:xfrm>
          <a:prstGeom prst="roundRect">
            <a:avLst>
              <a:gd name="adj" fmla="val 4211"/>
            </a:avLst>
          </a:prstGeom>
          <a:solidFill>
            <a:srgbClr val="F6F2EB"/>
          </a:solidFill>
          <a:ln w="9525">
            <a:solidFill>
              <a:srgbClr val="D8D1C7"/>
            </a:solidFill>
            <a:prstDash val="solid"/>
          </a:ln>
        </p:spPr>
        <p:txBody>
          <a:bodyPr/>
          <a:lstStyle/>
          <a:p>
            <a:endParaRPr lang="fr-FR"/>
          </a:p>
        </p:txBody>
      </p:sp>
      <p:sp>
        <p:nvSpPr>
          <p:cNvPr id="31" name="Ellipse 30"/>
          <p:cNvSpPr>
            <a:spLocks noGrp="1"/>
          </p:cNvSpPr>
          <p:nvPr/>
        </p:nvSpPr>
        <p:spPr>
          <a:xfrm>
            <a:off x="6235700" y="3433350"/>
            <a:ext cx="285750" cy="285750"/>
          </a:xfrm>
          <a:prstGeom prst="ellipse">
            <a:avLst/>
          </a:prstGeom>
          <a:solidFill>
            <a:srgbClr val="F0ECE6"/>
          </a:solidFill>
          <a:ln w="0">
            <a:noFill/>
            <a:prstDash val="solid"/>
          </a:ln>
        </p:spPr>
        <p:txBody>
          <a:bodyPr/>
          <a:lstStyle/>
          <a:p>
            <a:endParaRPr lang="fr-FR"/>
          </a:p>
        </p:txBody>
      </p:sp>
      <p:sp>
        <p:nvSpPr>
          <p:cNvPr id="32" name="Rectangle 31"/>
          <p:cNvSpPr>
            <a:spLocks noGrp="1"/>
          </p:cNvSpPr>
          <p:nvPr/>
        </p:nvSpPr>
        <p:spPr>
          <a:xfrm>
            <a:off x="6235700" y="3480975"/>
            <a:ext cx="285750" cy="171450"/>
          </a:xfrm>
          <a:prstGeom prst="rect">
            <a:avLst/>
          </a:prstGeom>
          <a:noFill/>
          <a:ln w="0">
            <a:noFill/>
            <a:prstDash val="solid"/>
          </a:ln>
        </p:spPr>
        <p:txBody>
          <a:bodyPr wrap="none" anchor="ctr"/>
          <a:lstStyle/>
          <a:p>
            <a:pPr algn="ctr">
              <a:defRPr sz="975" b="0">
                <a:solidFill>
                  <a:srgbClr val="3A3A3A"/>
                </a:solidFill>
                <a:latin typeface="Noto Serif Medium"/>
                <a:ea typeface="Noto Serif Medium"/>
                <a:cs typeface="Noto Serif Medium"/>
              </a:defRPr>
            </a:pPr>
            <a:r>
              <a:rPr sz="975" b="0">
                <a:solidFill>
                  <a:srgbClr val="3A3A3A"/>
                </a:solidFill>
                <a:latin typeface="Noto Serif Medium"/>
                <a:ea typeface="Noto Serif Medium"/>
                <a:cs typeface="Noto Serif Medium"/>
              </a:rPr>
              <a:t>6</a:t>
            </a:r>
          </a:p>
        </p:txBody>
      </p:sp>
      <p:sp>
        <p:nvSpPr>
          <p:cNvPr id="33" name="Rectangle 32"/>
          <p:cNvSpPr>
            <a:spLocks noGrp="1"/>
          </p:cNvSpPr>
          <p:nvPr/>
        </p:nvSpPr>
        <p:spPr>
          <a:xfrm>
            <a:off x="6635750" y="3461925"/>
            <a:ext cx="1892950" cy="500000"/>
          </a:xfrm>
          <a:prstGeom prst="rect">
            <a:avLst/>
          </a:prstGeom>
          <a:noFill/>
          <a:ln w="0">
            <a:noFill/>
            <a:prstDash val="solid"/>
          </a:ln>
        </p:spPr>
        <p:txBody>
          <a:bodyPr wrap="square">
            <a:normAutofit fontScale="97696"/>
          </a:bodyPr>
          <a:lstStyle/>
          <a:p>
            <a:pPr>
              <a:defRPr sz="1275" b="0">
                <a:solidFill>
                  <a:srgbClr val="4C4C4C"/>
                </a:solidFill>
                <a:latin typeface="Noto Serif Medium"/>
                <a:ea typeface="Noto Serif Medium"/>
                <a:cs typeface="Noto Serif Medium"/>
              </a:defRPr>
            </a:pPr>
            <a:r>
              <a:rPr sz="1275" b="0">
                <a:solidFill>
                  <a:srgbClr val="4C4C4C"/>
                </a:solidFill>
                <a:latin typeface="Noto Serif Medium"/>
                <a:ea typeface="Noto Serif Medium"/>
                <a:cs typeface="Noto Serif Medium"/>
              </a:rPr>
              <a:t>Aperçu du Bilan Comptable</a:t>
            </a:r>
          </a:p>
        </p:txBody>
      </p:sp>
      <p:sp>
        <p:nvSpPr>
          <p:cNvPr id="34" name="Rectangle 33"/>
          <p:cNvSpPr>
            <a:spLocks noGrp="1"/>
          </p:cNvSpPr>
          <p:nvPr/>
        </p:nvSpPr>
        <p:spPr>
          <a:xfrm>
            <a:off x="6273800" y="3852450"/>
            <a:ext cx="2184400" cy="797550"/>
          </a:xfrm>
          <a:prstGeom prst="rect">
            <a:avLst/>
          </a:prstGeom>
          <a:noFill/>
          <a:ln w="0">
            <a:noFill/>
            <a:prstDash val="solid"/>
          </a:ln>
        </p:spPr>
        <p:txBody>
          <a:bodyPr wrap="square">
            <a:normAutofit/>
          </a:bodyPr>
          <a:lstStyle/>
          <a:p>
            <a:pPr>
              <a:defRPr sz="900" b="0">
                <a:solidFill>
                  <a:srgbClr val="4C4C4C"/>
                </a:solidFill>
                <a:latin typeface="Noto Serif"/>
                <a:ea typeface="Noto Serif"/>
                <a:cs typeface="Noto Serif"/>
              </a:defRPr>
            </a:pPr>
            <a:r>
              <a:rPr sz="900" b="0" dirty="0">
                <a:solidFill>
                  <a:srgbClr val="4C4C4C"/>
                </a:solidFill>
                <a:latin typeface="Noto Serif"/>
                <a:ea typeface="Noto Serif"/>
                <a:cs typeface="Noto Serif"/>
              </a:rPr>
              <a:t>Une première estimation du </a:t>
            </a:r>
            <a:r>
              <a:rPr sz="900" b="0" dirty="0" err="1">
                <a:solidFill>
                  <a:srgbClr val="4C4C4C"/>
                </a:solidFill>
                <a:latin typeface="Noto Serif"/>
                <a:ea typeface="Noto Serif"/>
                <a:cs typeface="Noto Serif"/>
              </a:rPr>
              <a:t>bilan</a:t>
            </a:r>
            <a:r>
              <a:rPr sz="900" b="0" dirty="0">
                <a:solidFill>
                  <a:srgbClr val="4C4C4C"/>
                </a:solidFill>
                <a:latin typeface="Noto Serif"/>
                <a:ea typeface="Noto Serif"/>
                <a:cs typeface="Noto Serif"/>
              </a:rPr>
              <a:t> </a:t>
            </a:r>
            <a:r>
              <a:rPr lang="fr-FR" sz="900" dirty="0">
                <a:solidFill>
                  <a:srgbClr val="4C4C4C"/>
                </a:solidFill>
                <a:latin typeface="Noto Serif"/>
                <a:ea typeface="Noto Serif"/>
                <a:cs typeface="Noto Serif"/>
              </a:rPr>
              <a:t>comptable</a:t>
            </a:r>
            <a:endParaRPr sz="900" b="0" dirty="0">
              <a:solidFill>
                <a:srgbClr val="4C4C4C"/>
              </a:solidFill>
              <a:latin typeface="Noto Serif"/>
              <a:ea typeface="Noto Serif"/>
              <a:cs typeface="Noto Serif"/>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4BCF942-FBAD-4780-8739-C6015A884C9F}"/>
              </a:ext>
            </a:extLst>
          </p:cNvPr>
          <p:cNvSpPr>
            <a:spLocks noGrp="1"/>
          </p:cNvSpPr>
          <p:nvPr/>
        </p:nvSpPr>
        <p:spPr>
          <a:xfrm>
            <a:off x="1362298" y="412552"/>
            <a:ext cx="5736208" cy="290736"/>
          </a:xfrm>
          <a:prstGeom prst="rect">
            <a:avLst/>
          </a:prstGeom>
          <a:noFill/>
        </p:spPr>
        <p:txBody>
          <a:bodyPr wrap="none" lIns="0" tIns="0" rIns="0" bIns="0" anchor="t"/>
          <a:lstStyle/>
          <a:p>
            <a:pPr marL="0" indent="0" algn="l">
              <a:lnSpc>
                <a:spcPct val="104000"/>
              </a:lnSpc>
              <a:buNone/>
            </a:pPr>
            <a:r>
              <a:rPr sz="1800">
                <a:solidFill>
                  <a:srgbClr val="3A3A3A"/>
                </a:solidFill>
                <a:latin typeface="Noto Serif Medium"/>
                <a:ea typeface="Noto Serif Medium"/>
                <a:cs typeface="Noto Serif Medium"/>
              </a:rPr>
              <a:t>Architecture Cloud Globale RestoLens sur AWS</a:t>
            </a:r>
          </a:p>
        </p:txBody>
      </p:sp>
      <p:pic>
        <p:nvPicPr>
          <p:cNvPr id="7" name="Image 0"/>
          <p:cNvPicPr>
            <a:picLocks noChangeAspect="1"/>
          </p:cNvPicPr>
          <p:nvPr/>
        </p:nvPicPr>
        <p:blipFill>
          <a:blip r:embed="rId3"/>
          <a:stretch>
            <a:fillRect/>
          </a:stretch>
        </p:blipFill>
        <p:spPr>
          <a:xfrm>
            <a:off x="1362298" y="825326"/>
            <a:ext cx="4168899" cy="3713708"/>
          </a:xfrm>
          <a:prstGeom prst="rect">
            <a:avLst/>
          </a:prstGeom>
        </p:spPr>
      </p:pic>
      <p:sp>
        <p:nvSpPr>
          <p:cNvPr id="4" name="Text 1">
            <a:extLst>
              <a:ext uri="{FF2B5EF4-FFF2-40B4-BE49-F238E27FC236}">
                <a16:creationId xmlns:a16="http://schemas.microsoft.com/office/drawing/2014/main" id="{D761D85E-D423-4277-B16E-932705F9B256}"/>
              </a:ext>
            </a:extLst>
          </p:cNvPr>
          <p:cNvSpPr>
            <a:spLocks noGrp="1"/>
          </p:cNvSpPr>
          <p:nvPr/>
        </p:nvSpPr>
        <p:spPr>
          <a:xfrm>
            <a:off x="1362298" y="4607719"/>
            <a:ext cx="6876604" cy="123230"/>
          </a:xfrm>
          <a:prstGeom prst="rect">
            <a:avLst/>
          </a:prstGeom>
          <a:noFill/>
        </p:spPr>
        <p:txBody>
          <a:bodyPr wrap="none" lIns="0" tIns="0" rIns="0" bIns="0" anchor="t"/>
          <a:lstStyle/>
          <a:p>
            <a:pPr marL="0" indent="0" algn="l">
              <a:lnSpc>
                <a:spcPct val="110000"/>
              </a:lnSpc>
              <a:buNone/>
            </a:pPr>
            <a:endParaRPr/>
          </a:p>
        </p:txBody>
      </p:sp>
    </p:spTree>
    <p:extLst>
      <p:ext uri="{BB962C8B-B14F-4D97-AF65-F5344CB8AC3E}">
        <p14:creationId xmlns:p14="http://schemas.microsoft.com/office/powerpoint/2010/main" val="14529610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0AE29D6-A2AF-450B-8C1C-F838BEBA6891}"/>
              </a:ext>
            </a:extLst>
          </p:cNvPr>
          <p:cNvSpPr>
            <a:spLocks noGrp="1"/>
          </p:cNvSpPr>
          <p:nvPr/>
        </p:nvSpPr>
        <p:spPr>
          <a:xfrm>
            <a:off x="496119" y="563687"/>
            <a:ext cx="1554510" cy="266402"/>
          </a:xfrm>
          <a:prstGeom prst="roundRect">
            <a:avLst>
              <a:gd name="adj" fmla="val 17880"/>
            </a:avLst>
          </a:prstGeom>
          <a:solidFill>
            <a:srgbClr val="E8E6E3"/>
          </a:solidFill>
        </p:spPr>
        <p:txBody>
          <a:bodyPr/>
          <a:lstStyle/>
          <a:p>
            <a:endParaRPr lang="fr-FR"/>
          </a:p>
        </p:txBody>
      </p:sp>
      <p:sp>
        <p:nvSpPr>
          <p:cNvPr id="3" name="Text 1">
            <a:extLst>
              <a:ext uri="{FF2B5EF4-FFF2-40B4-BE49-F238E27FC236}">
                <a16:creationId xmlns:a16="http://schemas.microsoft.com/office/drawing/2014/main" id="{ABB1763C-61C1-4C5B-9DE8-BD0EE08D624E}"/>
              </a:ext>
            </a:extLst>
          </p:cNvPr>
          <p:cNvSpPr>
            <a:spLocks noGrp="1"/>
          </p:cNvSpPr>
          <p:nvPr/>
        </p:nvSpPr>
        <p:spPr>
          <a:xfrm>
            <a:off x="581174" y="606177"/>
            <a:ext cx="1841599" cy="181421"/>
          </a:xfrm>
          <a:prstGeom prst="rect">
            <a:avLst/>
          </a:prstGeom>
          <a:noFill/>
        </p:spPr>
        <p:txBody>
          <a:bodyPr wrap="none" lIns="0" tIns="0" rIns="0" bIns="0" anchor="t"/>
          <a:lstStyle/>
          <a:p>
            <a:pPr marL="0" indent="0" algn="l">
              <a:lnSpc>
                <a:spcPct val="133000"/>
              </a:lnSpc>
              <a:buNone/>
            </a:pPr>
            <a:r>
              <a:rPr sz="850">
                <a:solidFill>
                  <a:srgbClr val="4C4C4C"/>
                </a:solidFill>
                <a:latin typeface="Noto Serif"/>
                <a:ea typeface="Noto Serif"/>
                <a:cs typeface="Noto Serif"/>
              </a:rPr>
              <a:t>MOTEUR DE PRÉDICTION</a:t>
            </a:r>
          </a:p>
        </p:txBody>
      </p:sp>
      <p:sp>
        <p:nvSpPr>
          <p:cNvPr id="4" name="Text 2">
            <a:extLst>
              <a:ext uri="{FF2B5EF4-FFF2-40B4-BE49-F238E27FC236}">
                <a16:creationId xmlns:a16="http://schemas.microsoft.com/office/drawing/2014/main" id="{F787A76A-89C0-497D-8BE3-26C06F5403D7}"/>
              </a:ext>
            </a:extLst>
          </p:cNvPr>
          <p:cNvSpPr>
            <a:spLocks noGrp="1"/>
          </p:cNvSpPr>
          <p:nvPr/>
        </p:nvSpPr>
        <p:spPr>
          <a:xfrm>
            <a:off x="496119" y="886792"/>
            <a:ext cx="8151763" cy="885974"/>
          </a:xfrm>
          <a:prstGeom prst="rect">
            <a:avLst/>
          </a:prstGeom>
          <a:noFill/>
        </p:spPr>
        <p:txBody>
          <a:bodyPr wrap="square" lIns="0" tIns="0" rIns="0" bIns="0" anchor="t">
            <a:normAutofit/>
          </a:bodyPr>
          <a:lstStyle/>
          <a:p>
            <a:pPr marL="0" indent="0" algn="l">
              <a:lnSpc>
                <a:spcPct val="104000"/>
              </a:lnSpc>
              <a:buNone/>
            </a:pPr>
            <a:r>
              <a:rPr sz="2750">
                <a:solidFill>
                  <a:srgbClr val="3A3A3A"/>
                </a:solidFill>
                <a:latin typeface="Noto Serif Medium"/>
                <a:ea typeface="Noto Serif Medium"/>
                <a:cs typeface="Noto Serif Medium"/>
              </a:rPr>
              <a:t>AWS SageMaker AI + AWS EventBridge — Modèle de Prédiction ML</a:t>
            </a:r>
          </a:p>
        </p:txBody>
      </p:sp>
      <p:pic>
        <p:nvPicPr>
          <p:cNvPr id="9" name="Image 0"/>
          <p:cNvPicPr>
            <a:picLocks noChangeAspect="1"/>
          </p:cNvPicPr>
          <p:nvPr/>
        </p:nvPicPr>
        <p:blipFill>
          <a:blip r:embed="rId3"/>
          <a:stretch>
            <a:fillRect/>
          </a:stretch>
        </p:blipFill>
        <p:spPr>
          <a:xfrm>
            <a:off x="496119" y="1985367"/>
            <a:ext cx="8151763" cy="2594372"/>
          </a:xfrm>
          <a:prstGeom prst="rect">
            <a:avLst/>
          </a:prstGeom>
        </p:spPr>
      </p:pic>
    </p:spTree>
    <p:extLst>
      <p:ext uri="{BB962C8B-B14F-4D97-AF65-F5344CB8AC3E}">
        <p14:creationId xmlns:p14="http://schemas.microsoft.com/office/powerpoint/2010/main" val="14459860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E2690C4-562F-40E8-8A1C-F16B8D1AC492}"/>
              </a:ext>
            </a:extLst>
          </p:cNvPr>
          <p:cNvSpPr>
            <a:spLocks noGrp="1"/>
          </p:cNvSpPr>
          <p:nvPr/>
        </p:nvSpPr>
        <p:spPr>
          <a:xfrm>
            <a:off x="1360959" y="409352"/>
            <a:ext cx="7336408" cy="341837"/>
          </a:xfrm>
          <a:prstGeom prst="rect">
            <a:avLst/>
          </a:prstGeom>
          <a:noFill/>
        </p:spPr>
        <p:txBody>
          <a:bodyPr wrap="square" lIns="0" tIns="0" rIns="0" bIns="0" anchor="t">
            <a:normAutofit/>
          </a:bodyPr>
          <a:lstStyle/>
          <a:p>
            <a:pPr marL="0" indent="0" algn="l">
              <a:lnSpc>
                <a:spcPct val="104000"/>
              </a:lnSpc>
              <a:buNone/>
            </a:pPr>
            <a:r>
              <a:rPr sz="2050" dirty="0">
                <a:solidFill>
                  <a:srgbClr val="3A3A3A"/>
                </a:solidFill>
                <a:latin typeface="Noto Serif Medium"/>
                <a:ea typeface="Noto Serif Medium"/>
                <a:cs typeface="Noto Serif Medium"/>
              </a:rPr>
              <a:t>Amazon S3 — Stockage des Factures et Versioning des </a:t>
            </a:r>
            <a:r>
              <a:rPr lang="fr-FR" sz="2050" dirty="0">
                <a:solidFill>
                  <a:srgbClr val="3A3A3A"/>
                </a:solidFill>
                <a:latin typeface="Noto Serif Medium"/>
                <a:ea typeface="Noto Serif Medium"/>
                <a:cs typeface="Noto Serif Medium"/>
              </a:rPr>
              <a:t>m</a:t>
            </a:r>
            <a:r>
              <a:rPr sz="2050" dirty="0" err="1">
                <a:solidFill>
                  <a:srgbClr val="3A3A3A"/>
                </a:solidFill>
                <a:latin typeface="Noto Serif Medium"/>
                <a:ea typeface="Noto Serif Medium"/>
                <a:cs typeface="Noto Serif Medium"/>
              </a:rPr>
              <a:t>odèles</a:t>
            </a:r>
            <a:r>
              <a:rPr sz="2050" dirty="0">
                <a:solidFill>
                  <a:srgbClr val="3A3A3A"/>
                </a:solidFill>
                <a:latin typeface="Noto Serif Medium"/>
                <a:ea typeface="Noto Serif Medium"/>
                <a:cs typeface="Noto Serif Medium"/>
              </a:rPr>
              <a:t> ML</a:t>
            </a:r>
          </a:p>
        </p:txBody>
      </p:sp>
      <p:sp>
        <p:nvSpPr>
          <p:cNvPr id="3" name="Text 1">
            <a:extLst>
              <a:ext uri="{FF2B5EF4-FFF2-40B4-BE49-F238E27FC236}">
                <a16:creationId xmlns:a16="http://schemas.microsoft.com/office/drawing/2014/main" id="{A973AEA1-5515-4C06-825D-70F05E941D04}"/>
              </a:ext>
            </a:extLst>
          </p:cNvPr>
          <p:cNvSpPr>
            <a:spLocks noGrp="1"/>
          </p:cNvSpPr>
          <p:nvPr/>
        </p:nvSpPr>
        <p:spPr>
          <a:xfrm>
            <a:off x="903759" y="1233264"/>
            <a:ext cx="7793608" cy="148828"/>
          </a:xfrm>
          <a:prstGeom prst="rect">
            <a:avLst/>
          </a:prstGeom>
          <a:noFill/>
        </p:spPr>
        <p:txBody>
          <a:bodyPr wrap="none" lIns="0" tIns="0" rIns="0" bIns="0" anchor="t"/>
          <a:lstStyle/>
          <a:p>
            <a:pPr marL="0" indent="0" algn="l">
              <a:lnSpc>
                <a:spcPct val="117000"/>
              </a:lnSpc>
              <a:buNone/>
            </a:pPr>
            <a:r>
              <a:rPr sz="800">
                <a:solidFill>
                  <a:srgbClr val="4C4C4C"/>
                </a:solidFill>
                <a:latin typeface="Noto Serif"/>
                <a:ea typeface="Noto Serif"/>
                <a:cs typeface="Noto Serif"/>
              </a:rPr>
              <a:t>Amazon S3 joue un double rôle stratégique dans l'architecture :</a:t>
            </a:r>
          </a:p>
        </p:txBody>
      </p:sp>
      <p:pic>
        <p:nvPicPr>
          <p:cNvPr id="7" name="Image 0"/>
          <p:cNvPicPr>
            <a:picLocks noChangeAspect="1"/>
          </p:cNvPicPr>
          <p:nvPr/>
        </p:nvPicPr>
        <p:blipFill>
          <a:blip r:embed="rId3"/>
          <a:stretch>
            <a:fillRect/>
          </a:stretch>
        </p:blipFill>
        <p:spPr>
          <a:xfrm>
            <a:off x="903759" y="1471761"/>
            <a:ext cx="7336408" cy="3262387"/>
          </a:xfrm>
          <a:prstGeom prst="rect">
            <a:avLst/>
          </a:prstGeom>
        </p:spPr>
      </p:pic>
      <p:pic>
        <p:nvPicPr>
          <p:cNvPr id="4" name="Image 3" descr="Amazon S3: Your Cloud Storage Powerhouse.">
            <a:extLst>
              <a:ext uri="{FF2B5EF4-FFF2-40B4-BE49-F238E27FC236}">
                <a16:creationId xmlns:a16="http://schemas.microsoft.com/office/drawing/2014/main" id="{F81D95DD-7D06-7DC6-A9F8-D4FBFD6E5650}"/>
              </a:ext>
            </a:extLst>
          </p:cNvPr>
          <p:cNvPicPr>
            <a:picLocks noChangeAspect="1"/>
          </p:cNvPicPr>
          <p:nvPr/>
        </p:nvPicPr>
        <p:blipFill>
          <a:blip r:embed="rId4"/>
          <a:stretch>
            <a:fillRect/>
          </a:stretch>
        </p:blipFill>
        <p:spPr>
          <a:xfrm>
            <a:off x="45602" y="134823"/>
            <a:ext cx="1716314" cy="1098441"/>
          </a:xfrm>
          <a:prstGeom prst="rect">
            <a:avLst/>
          </a:prstGeom>
        </p:spPr>
      </p:pic>
    </p:spTree>
    <p:extLst>
      <p:ext uri="{BB962C8B-B14F-4D97-AF65-F5344CB8AC3E}">
        <p14:creationId xmlns:p14="http://schemas.microsoft.com/office/powerpoint/2010/main" val="18162722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E0E4F-79F0-8973-50F7-0F4B781C7BF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DD7AFAA-513B-5FA6-EF98-743690D8C768}"/>
              </a:ext>
            </a:extLst>
          </p:cNvPr>
          <p:cNvSpPr>
            <a:spLocks noGrp="1"/>
          </p:cNvSpPr>
          <p:nvPr/>
        </p:nvSpPr>
        <p:spPr>
          <a:xfrm>
            <a:off x="1703185" y="409277"/>
            <a:ext cx="7336408" cy="412995"/>
          </a:xfrm>
          <a:prstGeom prst="rect">
            <a:avLst/>
          </a:prstGeom>
          <a:noFill/>
        </p:spPr>
        <p:txBody>
          <a:bodyPr wrap="square" lIns="0" tIns="0" rIns="0" bIns="0" anchor="t">
            <a:normAutofit/>
          </a:bodyPr>
          <a:lstStyle/>
          <a:p>
            <a:pPr marL="0" indent="0" algn="l">
              <a:lnSpc>
                <a:spcPct val="104000"/>
              </a:lnSpc>
              <a:buNone/>
            </a:pPr>
            <a:r>
              <a:rPr lang="fr-FR" sz="2050" dirty="0">
                <a:solidFill>
                  <a:srgbClr val="3A3A3A"/>
                </a:solidFill>
                <a:latin typeface="Noto Serif Medium"/>
                <a:ea typeface="Noto Serif Medium"/>
                <a:cs typeface="Noto Serif Medium"/>
              </a:rPr>
              <a:t>Feedback : </a:t>
            </a:r>
            <a:r>
              <a:rPr sz="2050" dirty="0">
                <a:solidFill>
                  <a:srgbClr val="3A3A3A"/>
                </a:solidFill>
                <a:latin typeface="Noto Serif Medium"/>
                <a:ea typeface="Noto Serif Medium"/>
                <a:cs typeface="Noto Serif Medium"/>
              </a:rPr>
              <a:t>Amazon </a:t>
            </a:r>
            <a:r>
              <a:rPr lang="fr-FR" sz="2050" dirty="0" err="1">
                <a:solidFill>
                  <a:srgbClr val="3A3A3A"/>
                </a:solidFill>
                <a:latin typeface="Noto Serif Medium"/>
                <a:ea typeface="Noto Serif Medium"/>
                <a:cs typeface="Noto Serif Medium"/>
              </a:rPr>
              <a:t>EventBridge</a:t>
            </a:r>
            <a:r>
              <a:rPr sz="2050" dirty="0">
                <a:solidFill>
                  <a:srgbClr val="3A3A3A"/>
                </a:solidFill>
                <a:latin typeface="Noto Serif Medium"/>
                <a:ea typeface="Noto Serif Medium"/>
                <a:cs typeface="Noto Serif Medium"/>
              </a:rPr>
              <a:t> </a:t>
            </a:r>
            <a:r>
              <a:rPr lang="fr-FR" sz="2050" dirty="0">
                <a:solidFill>
                  <a:srgbClr val="3A3A3A"/>
                </a:solidFill>
                <a:latin typeface="Noto Serif Medium"/>
                <a:ea typeface="Noto Serif Medium"/>
                <a:cs typeface="Noto Serif Medium"/>
              </a:rPr>
              <a:t>– </a:t>
            </a:r>
            <a:r>
              <a:rPr lang="fr-FR" sz="2050" dirty="0" err="1">
                <a:solidFill>
                  <a:srgbClr val="3A3A3A"/>
                </a:solidFill>
                <a:latin typeface="Noto Serif Medium"/>
                <a:ea typeface="Noto Serif Medium"/>
                <a:cs typeface="Noto Serif Medium"/>
              </a:rPr>
              <a:t>réentrainer</a:t>
            </a:r>
            <a:r>
              <a:rPr lang="fr-FR" sz="2050" dirty="0">
                <a:solidFill>
                  <a:srgbClr val="3A3A3A"/>
                </a:solidFill>
                <a:latin typeface="Noto Serif Medium"/>
                <a:ea typeface="Noto Serif Medium"/>
                <a:cs typeface="Noto Serif Medium"/>
              </a:rPr>
              <a:t> le modèle</a:t>
            </a:r>
          </a:p>
        </p:txBody>
      </p:sp>
      <p:sp>
        <p:nvSpPr>
          <p:cNvPr id="3" name="Text 1">
            <a:extLst>
              <a:ext uri="{FF2B5EF4-FFF2-40B4-BE49-F238E27FC236}">
                <a16:creationId xmlns:a16="http://schemas.microsoft.com/office/drawing/2014/main" id="{63A13AD3-F349-AE04-1822-B50035F9EE97}"/>
              </a:ext>
            </a:extLst>
          </p:cNvPr>
          <p:cNvSpPr>
            <a:spLocks noGrp="1"/>
          </p:cNvSpPr>
          <p:nvPr/>
        </p:nvSpPr>
        <p:spPr>
          <a:xfrm>
            <a:off x="903759" y="1233264"/>
            <a:ext cx="7793608" cy="148828"/>
          </a:xfrm>
          <a:prstGeom prst="rect">
            <a:avLst/>
          </a:prstGeom>
          <a:noFill/>
        </p:spPr>
        <p:txBody>
          <a:bodyPr wrap="none" lIns="0" tIns="0" rIns="0" bIns="0" anchor="t"/>
          <a:lstStyle/>
          <a:p>
            <a:pPr marL="0" indent="0" algn="l">
              <a:lnSpc>
                <a:spcPct val="117000"/>
              </a:lnSpc>
              <a:buNone/>
            </a:pPr>
            <a:r>
              <a:rPr sz="800">
                <a:solidFill>
                  <a:srgbClr val="4C4C4C"/>
                </a:solidFill>
                <a:latin typeface="Noto Serif"/>
                <a:ea typeface="Noto Serif"/>
                <a:cs typeface="Noto Serif"/>
              </a:rPr>
              <a:t>Amazon S3 joue un double rôle stratégique dans l'architecture :</a:t>
            </a:r>
          </a:p>
        </p:txBody>
      </p:sp>
      <p:pic>
        <p:nvPicPr>
          <p:cNvPr id="10" name="Image 9">
            <a:extLst>
              <a:ext uri="{FF2B5EF4-FFF2-40B4-BE49-F238E27FC236}">
                <a16:creationId xmlns:a16="http://schemas.microsoft.com/office/drawing/2014/main" id="{40CC5785-1140-8A64-0F39-A5958B8C8A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763" y="991752"/>
            <a:ext cx="7772400" cy="3742471"/>
          </a:xfrm>
          <a:prstGeom prst="rect">
            <a:avLst/>
          </a:prstGeom>
        </p:spPr>
      </p:pic>
      <p:pic>
        <p:nvPicPr>
          <p:cNvPr id="4" name="Image 3" descr="AWS Select Services Partner – ScienceSoft">
            <a:extLst>
              <a:ext uri="{FF2B5EF4-FFF2-40B4-BE49-F238E27FC236}">
                <a16:creationId xmlns:a16="http://schemas.microsoft.com/office/drawing/2014/main" id="{FE1B499A-BC91-1216-D68F-8FBA43230291}"/>
              </a:ext>
            </a:extLst>
          </p:cNvPr>
          <p:cNvPicPr>
            <a:picLocks noChangeAspect="1"/>
          </p:cNvPicPr>
          <p:nvPr/>
        </p:nvPicPr>
        <p:blipFill>
          <a:blip r:embed="rId4"/>
          <a:stretch>
            <a:fillRect/>
          </a:stretch>
        </p:blipFill>
        <p:spPr>
          <a:xfrm>
            <a:off x="611138" y="206477"/>
            <a:ext cx="819904" cy="664519"/>
          </a:xfrm>
          <a:prstGeom prst="rect">
            <a:avLst/>
          </a:prstGeom>
        </p:spPr>
      </p:pic>
    </p:spTree>
    <p:extLst>
      <p:ext uri="{BB962C8B-B14F-4D97-AF65-F5344CB8AC3E}">
        <p14:creationId xmlns:p14="http://schemas.microsoft.com/office/powerpoint/2010/main" val="3982646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9064DDA-2FDB-4B21-955D-1F0FFC121018}"/>
              </a:ext>
            </a:extLst>
          </p:cNvPr>
          <p:cNvSpPr>
            <a:spLocks noGrp="1"/>
          </p:cNvSpPr>
          <p:nvPr/>
        </p:nvSpPr>
        <p:spPr>
          <a:xfrm>
            <a:off x="1973684" y="463153"/>
            <a:ext cx="2496294" cy="235297"/>
          </a:xfrm>
          <a:prstGeom prst="rect">
            <a:avLst/>
          </a:prstGeom>
          <a:noFill/>
        </p:spPr>
        <p:txBody>
          <a:bodyPr wrap="none" lIns="0" tIns="0" rIns="0" bIns="0" anchor="t"/>
          <a:lstStyle/>
          <a:p>
            <a:pPr marL="0" indent="0" algn="l">
              <a:lnSpc>
                <a:spcPct val="104000"/>
              </a:lnSpc>
              <a:buNone/>
            </a:pPr>
            <a:r>
              <a:rPr sz="1450">
                <a:solidFill>
                  <a:srgbClr val="3A3A3A"/>
                </a:solidFill>
                <a:latin typeface="Noto Serif Medium"/>
                <a:ea typeface="Noto Serif Medium"/>
                <a:cs typeface="Noto Serif Medium"/>
              </a:rPr>
              <a:t>Configuration modèle </a:t>
            </a:r>
          </a:p>
        </p:txBody>
      </p:sp>
      <p:sp>
        <p:nvSpPr>
          <p:cNvPr id="3" name="Text 1">
            <a:extLst>
              <a:ext uri="{FF2B5EF4-FFF2-40B4-BE49-F238E27FC236}">
                <a16:creationId xmlns:a16="http://schemas.microsoft.com/office/drawing/2014/main" id="{F1543D3E-A243-48A6-BAF0-1F080F9DE7C3}"/>
              </a:ext>
            </a:extLst>
          </p:cNvPr>
          <p:cNvSpPr>
            <a:spLocks noGrp="1"/>
          </p:cNvSpPr>
          <p:nvPr/>
        </p:nvSpPr>
        <p:spPr>
          <a:xfrm>
            <a:off x="1973684" y="778446"/>
            <a:ext cx="5196632" cy="410766"/>
          </a:xfrm>
          <a:prstGeom prst="rect">
            <a:avLst/>
          </a:prstGeom>
          <a:noFill/>
        </p:spPr>
        <p:txBody>
          <a:bodyPr wrap="square" lIns="0" tIns="0" rIns="0" bIns="0" anchor="t">
            <a:normAutofit/>
          </a:bodyPr>
          <a:lstStyle/>
          <a:p>
            <a:pPr marL="342900" indent="-342900" algn="l">
              <a:lnSpc>
                <a:spcPct val="102000"/>
              </a:lnSpc>
              <a:buChar char="•"/>
            </a:pPr>
            <a:r>
              <a:rPr sz="550">
                <a:solidFill>
                  <a:srgbClr val="4C4C4C"/>
                </a:solidFill>
                <a:latin typeface="Noto Serif"/>
                <a:ea typeface="Noto Serif"/>
                <a:cs typeface="Noto Serif"/>
              </a:rPr>
              <a:t>Modèle : Prophet</a:t>
            </a:r>
          </a:p>
          <a:p>
            <a:pPr marL="342900" indent="-342900" algn="l">
              <a:lnSpc>
                <a:spcPct val="102000"/>
              </a:lnSpc>
              <a:buChar char="•"/>
            </a:pPr>
            <a:r>
              <a:rPr sz="550">
                <a:solidFill>
                  <a:srgbClr val="4C4C4C"/>
                </a:solidFill>
                <a:latin typeface="Noto Serif"/>
                <a:ea typeface="Noto Serif"/>
                <a:cs typeface="Noto Serif"/>
              </a:rPr>
              <a:t>Données journalière historique (1 an)</a:t>
            </a:r>
          </a:p>
          <a:p>
            <a:pPr marL="342900" indent="-342900" algn="l">
              <a:lnSpc>
                <a:spcPct val="102000"/>
              </a:lnSpc>
              <a:buChar char="•"/>
            </a:pPr>
            <a:r>
              <a:rPr sz="550">
                <a:solidFill>
                  <a:srgbClr val="4C4C4C"/>
                </a:solidFill>
                <a:latin typeface="Noto Serif"/>
                <a:ea typeface="Noto Serif"/>
                <a:cs typeface="Noto Serif"/>
              </a:rPr>
              <a:t>11 mois de données : Train</a:t>
            </a:r>
          </a:p>
          <a:p>
            <a:pPr marL="342900" indent="-342900" algn="l">
              <a:lnSpc>
                <a:spcPct val="102000"/>
              </a:lnSpc>
              <a:buChar char="•"/>
            </a:pPr>
            <a:r>
              <a:rPr sz="550">
                <a:solidFill>
                  <a:srgbClr val="4C4C4C"/>
                </a:solidFill>
                <a:latin typeface="Noto Serif"/>
                <a:ea typeface="Noto Serif"/>
                <a:cs typeface="Noto Serif"/>
              </a:rPr>
              <a:t>1 mois de données : Test</a:t>
            </a:r>
          </a:p>
        </p:txBody>
      </p:sp>
      <p:sp>
        <p:nvSpPr>
          <p:cNvPr id="4" name="Text 2">
            <a:extLst>
              <a:ext uri="{FF2B5EF4-FFF2-40B4-BE49-F238E27FC236}">
                <a16:creationId xmlns:a16="http://schemas.microsoft.com/office/drawing/2014/main" id="{64C260EC-2C51-48B3-80E7-1B7CF2197522}"/>
              </a:ext>
            </a:extLst>
          </p:cNvPr>
          <p:cNvSpPr>
            <a:spLocks noGrp="1"/>
          </p:cNvSpPr>
          <p:nvPr/>
        </p:nvSpPr>
        <p:spPr>
          <a:xfrm>
            <a:off x="1973684" y="1270099"/>
            <a:ext cx="2748409" cy="92199"/>
          </a:xfrm>
          <a:prstGeom prst="rect">
            <a:avLst/>
          </a:prstGeom>
          <a:noFill/>
        </p:spPr>
        <p:txBody>
          <a:bodyPr wrap="none" lIns="0" tIns="0" rIns="0" bIns="0" anchor="t"/>
          <a:lstStyle/>
          <a:p>
            <a:pPr marL="0" indent="0" algn="l">
              <a:lnSpc>
                <a:spcPct val="102000"/>
              </a:lnSpc>
              <a:buNone/>
            </a:pPr>
            <a:r>
              <a:rPr sz="550" b="1">
                <a:solidFill>
                  <a:srgbClr val="4C4C4C"/>
                </a:solidFill>
                <a:latin typeface="Noto Serif"/>
                <a:ea typeface="Noto Serif"/>
                <a:cs typeface="Noto Serif"/>
              </a:rPr>
              <a:t>Avant feature engineering</a:t>
            </a:r>
          </a:p>
        </p:txBody>
      </p:sp>
      <p:pic>
        <p:nvPicPr>
          <p:cNvPr id="34" name="Image 0"/>
          <p:cNvPicPr>
            <a:picLocks noChangeAspect="1"/>
          </p:cNvPicPr>
          <p:nvPr/>
        </p:nvPicPr>
        <p:blipFill>
          <a:blip r:embed="rId3"/>
          <a:stretch>
            <a:fillRect/>
          </a:stretch>
        </p:blipFill>
        <p:spPr>
          <a:xfrm>
            <a:off x="1973684" y="1407244"/>
            <a:ext cx="2291209" cy="1932459"/>
          </a:xfrm>
          <a:prstGeom prst="rect">
            <a:avLst/>
          </a:prstGeom>
        </p:spPr>
      </p:pic>
      <p:sp>
        <p:nvSpPr>
          <p:cNvPr id="6" name="Text 3">
            <a:extLst>
              <a:ext uri="{FF2B5EF4-FFF2-40B4-BE49-F238E27FC236}">
                <a16:creationId xmlns:a16="http://schemas.microsoft.com/office/drawing/2014/main" id="{31890BC8-0806-458B-9613-22A6BEB5ED1A}"/>
              </a:ext>
            </a:extLst>
          </p:cNvPr>
          <p:cNvSpPr>
            <a:spLocks noGrp="1"/>
          </p:cNvSpPr>
          <p:nvPr/>
        </p:nvSpPr>
        <p:spPr>
          <a:xfrm>
            <a:off x="4453310" y="1270099"/>
            <a:ext cx="3178894" cy="92199"/>
          </a:xfrm>
          <a:prstGeom prst="rect">
            <a:avLst/>
          </a:prstGeom>
          <a:noFill/>
        </p:spPr>
        <p:txBody>
          <a:bodyPr wrap="none" lIns="0" tIns="0" rIns="0" bIns="0" anchor="t"/>
          <a:lstStyle/>
          <a:p>
            <a:pPr marL="0" indent="0" algn="l">
              <a:lnSpc>
                <a:spcPct val="102000"/>
              </a:lnSpc>
              <a:buNone/>
            </a:pPr>
            <a:r>
              <a:rPr sz="550" b="1">
                <a:solidFill>
                  <a:srgbClr val="4C4C4C"/>
                </a:solidFill>
                <a:latin typeface="Noto Serif"/>
                <a:ea typeface="Noto Serif"/>
                <a:cs typeface="Noto Serif"/>
              </a:rPr>
              <a:t>Après feature engineering</a:t>
            </a:r>
          </a:p>
        </p:txBody>
      </p:sp>
      <p:pic>
        <p:nvPicPr>
          <p:cNvPr id="36" name="Image 1"/>
          <p:cNvPicPr>
            <a:picLocks noChangeAspect="1"/>
          </p:cNvPicPr>
          <p:nvPr/>
        </p:nvPicPr>
        <p:blipFill>
          <a:blip r:embed="rId4"/>
          <a:stretch>
            <a:fillRect/>
          </a:stretch>
        </p:blipFill>
        <p:spPr>
          <a:xfrm>
            <a:off x="4453310" y="1407244"/>
            <a:ext cx="2252960" cy="501625"/>
          </a:xfrm>
          <a:prstGeom prst="rect">
            <a:avLst/>
          </a:prstGeom>
        </p:spPr>
      </p:pic>
      <p:sp>
        <p:nvSpPr>
          <p:cNvPr id="8" name="Text 4">
            <a:extLst>
              <a:ext uri="{FF2B5EF4-FFF2-40B4-BE49-F238E27FC236}">
                <a16:creationId xmlns:a16="http://schemas.microsoft.com/office/drawing/2014/main" id="{4F38EA1A-A429-4BD3-A1FE-79A9B75DA411}"/>
              </a:ext>
            </a:extLst>
          </p:cNvPr>
          <p:cNvSpPr>
            <a:spLocks noGrp="1"/>
          </p:cNvSpPr>
          <p:nvPr/>
        </p:nvSpPr>
        <p:spPr>
          <a:xfrm>
            <a:off x="4453310" y="1953816"/>
            <a:ext cx="3178894" cy="92199"/>
          </a:xfrm>
          <a:prstGeom prst="rect">
            <a:avLst/>
          </a:prstGeom>
          <a:noFill/>
        </p:spPr>
        <p:txBody>
          <a:bodyPr wrap="none" lIns="0" tIns="0" rIns="0" bIns="0" anchor="t"/>
          <a:lstStyle/>
          <a:p>
            <a:pPr marL="0" indent="0" algn="l">
              <a:lnSpc>
                <a:spcPct val="102000"/>
              </a:lnSpc>
              <a:buNone/>
            </a:pPr>
            <a:endParaRPr/>
          </a:p>
        </p:txBody>
      </p:sp>
      <p:sp>
        <p:nvSpPr>
          <p:cNvPr id="9" name="Text 5">
            <a:extLst>
              <a:ext uri="{FF2B5EF4-FFF2-40B4-BE49-F238E27FC236}">
                <a16:creationId xmlns:a16="http://schemas.microsoft.com/office/drawing/2014/main" id="{A2C51AB7-6B77-4618-A02A-4B046B027D7A}"/>
              </a:ext>
            </a:extLst>
          </p:cNvPr>
          <p:cNvSpPr>
            <a:spLocks noGrp="1"/>
          </p:cNvSpPr>
          <p:nvPr/>
        </p:nvSpPr>
        <p:spPr>
          <a:xfrm>
            <a:off x="1973684" y="3444627"/>
            <a:ext cx="3055516" cy="324817"/>
          </a:xfrm>
          <a:prstGeom prst="rect">
            <a:avLst/>
          </a:prstGeom>
          <a:noFill/>
        </p:spPr>
        <p:txBody>
          <a:bodyPr wrap="none" lIns="0" tIns="0" rIns="0" bIns="0" anchor="t"/>
          <a:lstStyle/>
          <a:p>
            <a:pPr marL="0" indent="0" algn="l">
              <a:lnSpc>
                <a:spcPct val="104000"/>
              </a:lnSpc>
              <a:buNone/>
            </a:pPr>
            <a:r>
              <a:rPr sz="2000">
                <a:solidFill>
                  <a:srgbClr val="3A3A3A"/>
                </a:solidFill>
                <a:latin typeface="Noto Serif Medium"/>
                <a:ea typeface="Noto Serif Medium"/>
                <a:cs typeface="Noto Serif Medium"/>
              </a:rPr>
              <a:t>Métrique modèle</a:t>
            </a:r>
          </a:p>
        </p:txBody>
      </p:sp>
      <p:sp>
        <p:nvSpPr>
          <p:cNvPr id="10" name="Shape 6">
            <a:extLst>
              <a:ext uri="{FF2B5EF4-FFF2-40B4-BE49-F238E27FC236}">
                <a16:creationId xmlns:a16="http://schemas.microsoft.com/office/drawing/2014/main" id="{54E18D01-B01E-4DFA-A2DA-622E456C21A5}"/>
              </a:ext>
            </a:extLst>
          </p:cNvPr>
          <p:cNvSpPr>
            <a:spLocks noGrp="1"/>
          </p:cNvSpPr>
          <p:nvPr/>
        </p:nvSpPr>
        <p:spPr>
          <a:xfrm>
            <a:off x="1973684" y="3829422"/>
            <a:ext cx="5196632" cy="850925"/>
          </a:xfrm>
          <a:prstGeom prst="roundRect">
            <a:avLst>
              <a:gd name="adj" fmla="val 3717"/>
            </a:avLst>
          </a:prstGeom>
          <a:noFill/>
          <a:ln w="4763">
            <a:solidFill>
              <a:srgbClr val="000000">
                <a:alpha val="8000"/>
              </a:srgbClr>
            </a:solidFill>
            <a:prstDash val="solid"/>
          </a:ln>
        </p:spPr>
        <p:txBody>
          <a:bodyPr/>
          <a:lstStyle/>
          <a:p>
            <a:endParaRPr lang="fr-FR"/>
          </a:p>
        </p:txBody>
      </p:sp>
      <p:sp>
        <p:nvSpPr>
          <p:cNvPr id="11" name="Shape 7">
            <a:extLst>
              <a:ext uri="{FF2B5EF4-FFF2-40B4-BE49-F238E27FC236}">
                <a16:creationId xmlns:a16="http://schemas.microsoft.com/office/drawing/2014/main" id="{09E7410B-8B72-4F30-98CA-95C379AE6096}"/>
              </a:ext>
            </a:extLst>
          </p:cNvPr>
          <p:cNvSpPr>
            <a:spLocks noGrp="1"/>
          </p:cNvSpPr>
          <p:nvPr/>
        </p:nvSpPr>
        <p:spPr>
          <a:xfrm>
            <a:off x="1978447" y="3834185"/>
            <a:ext cx="5187107" cy="149647"/>
          </a:xfrm>
          <a:prstGeom prst="rect">
            <a:avLst/>
          </a:prstGeom>
          <a:solidFill>
            <a:srgbClr val="FFFFFF">
              <a:alpha val="4000"/>
            </a:srgbClr>
          </a:solidFill>
        </p:spPr>
        <p:txBody>
          <a:bodyPr/>
          <a:lstStyle/>
          <a:p>
            <a:endParaRPr lang="fr-FR"/>
          </a:p>
        </p:txBody>
      </p:sp>
      <p:sp>
        <p:nvSpPr>
          <p:cNvPr id="12" name="Text 8">
            <a:extLst>
              <a:ext uri="{FF2B5EF4-FFF2-40B4-BE49-F238E27FC236}">
                <a16:creationId xmlns:a16="http://schemas.microsoft.com/office/drawing/2014/main" id="{092DDC04-556D-4D55-8FF4-61354D44E932}"/>
              </a:ext>
            </a:extLst>
          </p:cNvPr>
          <p:cNvSpPr>
            <a:spLocks noGrp="1"/>
          </p:cNvSpPr>
          <p:nvPr/>
        </p:nvSpPr>
        <p:spPr>
          <a:xfrm>
            <a:off x="2053828" y="3862908"/>
            <a:ext cx="2379018" cy="92199"/>
          </a:xfrm>
          <a:prstGeom prst="rect">
            <a:avLst/>
          </a:prstGeom>
          <a:noFill/>
        </p:spPr>
        <p:txBody>
          <a:bodyPr wrap="none" lIns="0" tIns="0" rIns="0" bIns="0" anchor="t"/>
          <a:lstStyle/>
          <a:p>
            <a:pPr marL="0" indent="0" algn="l">
              <a:lnSpc>
                <a:spcPct val="102000"/>
              </a:lnSpc>
              <a:buNone/>
            </a:pPr>
            <a:r>
              <a:rPr sz="550">
                <a:solidFill>
                  <a:srgbClr val="4C4C4C"/>
                </a:solidFill>
                <a:latin typeface="Noto Serif"/>
                <a:ea typeface="Noto Serif"/>
                <a:cs typeface="Noto Serif"/>
              </a:rPr>
              <a:t>Métrique</a:t>
            </a:r>
          </a:p>
        </p:txBody>
      </p:sp>
      <p:sp>
        <p:nvSpPr>
          <p:cNvPr id="13" name="Text 9">
            <a:extLst>
              <a:ext uri="{FF2B5EF4-FFF2-40B4-BE49-F238E27FC236}">
                <a16:creationId xmlns:a16="http://schemas.microsoft.com/office/drawing/2014/main" id="{89928C34-EC5D-45DC-9D54-1CA1FDDC3A64}"/>
              </a:ext>
            </a:extLst>
          </p:cNvPr>
          <p:cNvSpPr>
            <a:spLocks noGrp="1"/>
          </p:cNvSpPr>
          <p:nvPr/>
        </p:nvSpPr>
        <p:spPr>
          <a:xfrm>
            <a:off x="4131022" y="3862908"/>
            <a:ext cx="2376636" cy="92199"/>
          </a:xfrm>
          <a:prstGeom prst="rect">
            <a:avLst/>
          </a:prstGeom>
          <a:noFill/>
        </p:spPr>
        <p:txBody>
          <a:bodyPr wrap="none" lIns="0" tIns="0" rIns="0" bIns="0" anchor="t"/>
          <a:lstStyle/>
          <a:p>
            <a:pPr marL="0" indent="0" algn="l">
              <a:lnSpc>
                <a:spcPct val="102000"/>
              </a:lnSpc>
              <a:buNone/>
            </a:pPr>
            <a:r>
              <a:rPr sz="550">
                <a:solidFill>
                  <a:srgbClr val="4C4C4C"/>
                </a:solidFill>
                <a:latin typeface="Noto Serif"/>
                <a:ea typeface="Noto Serif"/>
                <a:cs typeface="Noto Serif"/>
              </a:rPr>
              <a:t>Formule</a:t>
            </a:r>
          </a:p>
        </p:txBody>
      </p:sp>
      <p:sp>
        <p:nvSpPr>
          <p:cNvPr id="14" name="Text 10">
            <a:extLst>
              <a:ext uri="{FF2B5EF4-FFF2-40B4-BE49-F238E27FC236}">
                <a16:creationId xmlns:a16="http://schemas.microsoft.com/office/drawing/2014/main" id="{518487AA-78E9-4224-B714-8DD0E169281D}"/>
              </a:ext>
            </a:extLst>
          </p:cNvPr>
          <p:cNvSpPr>
            <a:spLocks noGrp="1"/>
          </p:cNvSpPr>
          <p:nvPr/>
        </p:nvSpPr>
        <p:spPr>
          <a:xfrm>
            <a:off x="6205835" y="3862908"/>
            <a:ext cx="1341611" cy="92199"/>
          </a:xfrm>
          <a:prstGeom prst="rect">
            <a:avLst/>
          </a:prstGeom>
          <a:noFill/>
        </p:spPr>
        <p:txBody>
          <a:bodyPr wrap="none" lIns="0" tIns="0" rIns="0" bIns="0" anchor="t"/>
          <a:lstStyle/>
          <a:p>
            <a:pPr marL="0" indent="0" algn="l">
              <a:lnSpc>
                <a:spcPct val="102000"/>
              </a:lnSpc>
              <a:buNone/>
            </a:pPr>
            <a:r>
              <a:rPr sz="550">
                <a:solidFill>
                  <a:srgbClr val="4C4C4C"/>
                </a:solidFill>
                <a:latin typeface="Noto Serif"/>
                <a:ea typeface="Noto Serif"/>
                <a:cs typeface="Noto Serif"/>
              </a:rPr>
              <a:t>Valeur</a:t>
            </a:r>
          </a:p>
        </p:txBody>
      </p:sp>
      <p:sp>
        <p:nvSpPr>
          <p:cNvPr id="15" name="Shape 11">
            <a:extLst>
              <a:ext uri="{FF2B5EF4-FFF2-40B4-BE49-F238E27FC236}">
                <a16:creationId xmlns:a16="http://schemas.microsoft.com/office/drawing/2014/main" id="{EA5182DA-4F71-47BB-8895-45682174F1AC}"/>
              </a:ext>
            </a:extLst>
          </p:cNvPr>
          <p:cNvSpPr>
            <a:spLocks noGrp="1"/>
          </p:cNvSpPr>
          <p:nvPr/>
        </p:nvSpPr>
        <p:spPr>
          <a:xfrm>
            <a:off x="1978447" y="3983831"/>
            <a:ext cx="5187107" cy="241846"/>
          </a:xfrm>
          <a:prstGeom prst="rect">
            <a:avLst/>
          </a:prstGeom>
          <a:solidFill>
            <a:srgbClr val="000000">
              <a:alpha val="4000"/>
            </a:srgbClr>
          </a:solidFill>
        </p:spPr>
        <p:txBody>
          <a:bodyPr/>
          <a:lstStyle/>
          <a:p>
            <a:endParaRPr lang="fr-FR"/>
          </a:p>
        </p:txBody>
      </p:sp>
      <p:sp>
        <p:nvSpPr>
          <p:cNvPr id="16" name="Text 12">
            <a:extLst>
              <a:ext uri="{FF2B5EF4-FFF2-40B4-BE49-F238E27FC236}">
                <a16:creationId xmlns:a16="http://schemas.microsoft.com/office/drawing/2014/main" id="{ACC05BD7-DE08-4AC1-A40E-8DD793690332}"/>
              </a:ext>
            </a:extLst>
          </p:cNvPr>
          <p:cNvSpPr>
            <a:spLocks noGrp="1"/>
          </p:cNvSpPr>
          <p:nvPr/>
        </p:nvSpPr>
        <p:spPr>
          <a:xfrm>
            <a:off x="2053828" y="4012555"/>
            <a:ext cx="2379018" cy="92199"/>
          </a:xfrm>
          <a:prstGeom prst="rect">
            <a:avLst/>
          </a:prstGeom>
          <a:noFill/>
        </p:spPr>
        <p:txBody>
          <a:bodyPr wrap="none" lIns="0" tIns="0" rIns="0" bIns="0" anchor="t"/>
          <a:lstStyle/>
          <a:p>
            <a:pPr marL="0" indent="0" algn="l">
              <a:lnSpc>
                <a:spcPct val="102000"/>
              </a:lnSpc>
              <a:buNone/>
            </a:pPr>
            <a:r>
              <a:rPr sz="550">
                <a:solidFill>
                  <a:srgbClr val="4C4C4C"/>
                </a:solidFill>
                <a:latin typeface="Noto Serif"/>
                <a:ea typeface="Noto Serif"/>
                <a:cs typeface="Noto Serif"/>
              </a:rPr>
              <a:t>MAE (Mean Absolut Error)</a:t>
            </a:r>
          </a:p>
        </p:txBody>
      </p:sp>
      <p:sp>
        <p:nvSpPr>
          <p:cNvPr id="17" name="Text 13">
            <a:extLst>
              <a:ext uri="{FF2B5EF4-FFF2-40B4-BE49-F238E27FC236}">
                <a16:creationId xmlns:a16="http://schemas.microsoft.com/office/drawing/2014/main" id="{BA71D1A2-3697-4185-9684-2A71C3B3F70A}"/>
              </a:ext>
            </a:extLst>
          </p:cNvPr>
          <p:cNvSpPr>
            <a:spLocks noGrp="1"/>
          </p:cNvSpPr>
          <p:nvPr/>
        </p:nvSpPr>
        <p:spPr>
          <a:xfrm>
            <a:off x="4131022" y="4012555"/>
            <a:ext cx="2376636" cy="92199"/>
          </a:xfrm>
          <a:prstGeom prst="rect">
            <a:avLst/>
          </a:prstGeom>
          <a:noFill/>
        </p:spPr>
        <p:txBody>
          <a:bodyPr wrap="none" lIns="0" tIns="0" rIns="0" bIns="0" anchor="t"/>
          <a:lstStyle/>
          <a:p>
            <a:pPr marL="0" indent="0" algn="l">
              <a:lnSpc>
                <a:spcPct val="102000"/>
              </a:lnSpc>
              <a:buNone/>
            </a:pPr>
            <a:r>
              <a:rPr sz="550">
                <a:solidFill>
                  <a:srgbClr val="4C4C4C"/>
                </a:solidFill>
                <a:latin typeface="Noto Serif"/>
                <a:ea typeface="Noto Serif"/>
                <a:cs typeface="Noto Serif"/>
              </a:rPr>
              <a:t>mean(|prédit - réel|)</a:t>
            </a:r>
          </a:p>
        </p:txBody>
      </p:sp>
      <p:sp>
        <p:nvSpPr>
          <p:cNvPr id="18" name="Text 14">
            <a:extLst>
              <a:ext uri="{FF2B5EF4-FFF2-40B4-BE49-F238E27FC236}">
                <a16:creationId xmlns:a16="http://schemas.microsoft.com/office/drawing/2014/main" id="{109DFBF0-D884-41A9-B066-88C6DD1BD15A}"/>
              </a:ext>
            </a:extLst>
          </p:cNvPr>
          <p:cNvSpPr>
            <a:spLocks noGrp="1"/>
          </p:cNvSpPr>
          <p:nvPr/>
        </p:nvSpPr>
        <p:spPr>
          <a:xfrm>
            <a:off x="6205835" y="4012555"/>
            <a:ext cx="884411" cy="184398"/>
          </a:xfrm>
          <a:prstGeom prst="rect">
            <a:avLst/>
          </a:prstGeom>
          <a:noFill/>
        </p:spPr>
        <p:txBody>
          <a:bodyPr wrap="square" lIns="0" tIns="0" rIns="0" bIns="0" anchor="t">
            <a:normAutofit/>
          </a:bodyPr>
          <a:lstStyle/>
          <a:p>
            <a:pPr marL="0" indent="0" algn="l">
              <a:lnSpc>
                <a:spcPct val="102000"/>
              </a:lnSpc>
              <a:buNone/>
            </a:pPr>
            <a:r>
              <a:rPr sz="550">
                <a:solidFill>
                  <a:srgbClr val="4C4C4C"/>
                </a:solidFill>
                <a:latin typeface="Noto Serif"/>
                <a:ea typeface="Noto Serif"/>
                <a:cs typeface="Noto Serif"/>
              </a:rPr>
              <a:t>MAE   : 196€   d'erreur moyenne par jour</a:t>
            </a:r>
          </a:p>
        </p:txBody>
      </p:sp>
      <p:sp>
        <p:nvSpPr>
          <p:cNvPr id="19" name="Shape 15">
            <a:extLst>
              <a:ext uri="{FF2B5EF4-FFF2-40B4-BE49-F238E27FC236}">
                <a16:creationId xmlns:a16="http://schemas.microsoft.com/office/drawing/2014/main" id="{EB52056C-C8D8-46E6-B3B1-8940E281BAB3}"/>
              </a:ext>
            </a:extLst>
          </p:cNvPr>
          <p:cNvSpPr>
            <a:spLocks noGrp="1"/>
          </p:cNvSpPr>
          <p:nvPr/>
        </p:nvSpPr>
        <p:spPr>
          <a:xfrm>
            <a:off x="1978447" y="4225677"/>
            <a:ext cx="5187107" cy="149647"/>
          </a:xfrm>
          <a:prstGeom prst="rect">
            <a:avLst/>
          </a:prstGeom>
          <a:solidFill>
            <a:srgbClr val="FFFFFF">
              <a:alpha val="4000"/>
            </a:srgbClr>
          </a:solidFill>
        </p:spPr>
        <p:txBody>
          <a:bodyPr/>
          <a:lstStyle/>
          <a:p>
            <a:endParaRPr lang="fr-FR"/>
          </a:p>
        </p:txBody>
      </p:sp>
      <p:sp>
        <p:nvSpPr>
          <p:cNvPr id="20" name="Text 16">
            <a:extLst>
              <a:ext uri="{FF2B5EF4-FFF2-40B4-BE49-F238E27FC236}">
                <a16:creationId xmlns:a16="http://schemas.microsoft.com/office/drawing/2014/main" id="{FCF51546-D9B5-48F9-AFFB-68FD469D8BB3}"/>
              </a:ext>
            </a:extLst>
          </p:cNvPr>
          <p:cNvSpPr>
            <a:spLocks noGrp="1"/>
          </p:cNvSpPr>
          <p:nvPr/>
        </p:nvSpPr>
        <p:spPr>
          <a:xfrm>
            <a:off x="2053828" y="4254401"/>
            <a:ext cx="2379018" cy="92199"/>
          </a:xfrm>
          <a:prstGeom prst="rect">
            <a:avLst/>
          </a:prstGeom>
          <a:noFill/>
        </p:spPr>
        <p:txBody>
          <a:bodyPr wrap="none" lIns="0" tIns="0" rIns="0" bIns="0" anchor="t"/>
          <a:lstStyle/>
          <a:p>
            <a:pPr marL="0" indent="0" algn="l">
              <a:lnSpc>
                <a:spcPct val="102000"/>
              </a:lnSpc>
              <a:buNone/>
            </a:pPr>
            <a:r>
              <a:rPr sz="550">
                <a:solidFill>
                  <a:srgbClr val="4C4C4C"/>
                </a:solidFill>
                <a:latin typeface="Noto Serif"/>
                <a:ea typeface="Noto Serif"/>
                <a:cs typeface="Noto Serif"/>
              </a:rPr>
              <a:t>MAPE (Mean Absolut Percentage Error)</a:t>
            </a:r>
          </a:p>
        </p:txBody>
      </p:sp>
      <p:sp>
        <p:nvSpPr>
          <p:cNvPr id="21" name="Text 17">
            <a:extLst>
              <a:ext uri="{FF2B5EF4-FFF2-40B4-BE49-F238E27FC236}">
                <a16:creationId xmlns:a16="http://schemas.microsoft.com/office/drawing/2014/main" id="{1EF60D33-C022-41DE-B47B-979A853FE18B}"/>
              </a:ext>
            </a:extLst>
          </p:cNvPr>
          <p:cNvSpPr>
            <a:spLocks noGrp="1"/>
          </p:cNvSpPr>
          <p:nvPr/>
        </p:nvSpPr>
        <p:spPr>
          <a:xfrm>
            <a:off x="4131022" y="4254401"/>
            <a:ext cx="2376636" cy="92199"/>
          </a:xfrm>
          <a:prstGeom prst="rect">
            <a:avLst/>
          </a:prstGeom>
          <a:noFill/>
        </p:spPr>
        <p:txBody>
          <a:bodyPr wrap="none" lIns="0" tIns="0" rIns="0" bIns="0" anchor="t"/>
          <a:lstStyle/>
          <a:p>
            <a:pPr marL="0" indent="0" algn="l">
              <a:lnSpc>
                <a:spcPct val="102000"/>
              </a:lnSpc>
              <a:buNone/>
            </a:pPr>
            <a:r>
              <a:rPr sz="550">
                <a:solidFill>
                  <a:srgbClr val="4C4C4C"/>
                </a:solidFill>
                <a:latin typeface="Noto Serif"/>
                <a:ea typeface="Noto Serif"/>
                <a:cs typeface="Noto Serif"/>
              </a:rPr>
              <a:t>mean(|prédit - réel|  /  réel) * 100</a:t>
            </a:r>
          </a:p>
        </p:txBody>
      </p:sp>
      <p:sp>
        <p:nvSpPr>
          <p:cNvPr id="22" name="Text 18">
            <a:extLst>
              <a:ext uri="{FF2B5EF4-FFF2-40B4-BE49-F238E27FC236}">
                <a16:creationId xmlns:a16="http://schemas.microsoft.com/office/drawing/2014/main" id="{6268CBB2-EC0B-48AB-8300-F13197F5B390}"/>
              </a:ext>
            </a:extLst>
          </p:cNvPr>
          <p:cNvSpPr>
            <a:spLocks noGrp="1"/>
          </p:cNvSpPr>
          <p:nvPr/>
        </p:nvSpPr>
        <p:spPr>
          <a:xfrm>
            <a:off x="6205835" y="4254401"/>
            <a:ext cx="1341611" cy="92199"/>
          </a:xfrm>
          <a:prstGeom prst="rect">
            <a:avLst/>
          </a:prstGeom>
          <a:noFill/>
        </p:spPr>
        <p:txBody>
          <a:bodyPr wrap="none" lIns="0" tIns="0" rIns="0" bIns="0" anchor="t"/>
          <a:lstStyle/>
          <a:p>
            <a:pPr marL="0" indent="0" algn="l">
              <a:lnSpc>
                <a:spcPct val="102000"/>
              </a:lnSpc>
              <a:buNone/>
            </a:pPr>
            <a:r>
              <a:rPr sz="550">
                <a:solidFill>
                  <a:srgbClr val="4C4C4C"/>
                </a:solidFill>
                <a:latin typeface="Noto Serif"/>
                <a:ea typeface="Noto Serif"/>
                <a:cs typeface="Noto Serif"/>
              </a:rPr>
              <a:t>17.9% d'erreur moyenne</a:t>
            </a:r>
          </a:p>
        </p:txBody>
      </p:sp>
      <p:sp>
        <p:nvSpPr>
          <p:cNvPr id="23" name="Shape 19">
            <a:extLst>
              <a:ext uri="{FF2B5EF4-FFF2-40B4-BE49-F238E27FC236}">
                <a16:creationId xmlns:a16="http://schemas.microsoft.com/office/drawing/2014/main" id="{EBCF9CC6-8290-4AB9-B23A-C5F12255886E}"/>
              </a:ext>
            </a:extLst>
          </p:cNvPr>
          <p:cNvSpPr>
            <a:spLocks noGrp="1"/>
          </p:cNvSpPr>
          <p:nvPr/>
        </p:nvSpPr>
        <p:spPr>
          <a:xfrm>
            <a:off x="1978447" y="4375324"/>
            <a:ext cx="5187107" cy="300261"/>
          </a:xfrm>
          <a:prstGeom prst="rect">
            <a:avLst/>
          </a:prstGeom>
          <a:solidFill>
            <a:srgbClr val="000000">
              <a:alpha val="4000"/>
            </a:srgbClr>
          </a:solidFill>
        </p:spPr>
        <p:txBody>
          <a:bodyPr/>
          <a:lstStyle/>
          <a:p>
            <a:endParaRPr lang="fr-FR"/>
          </a:p>
        </p:txBody>
      </p:sp>
      <p:sp>
        <p:nvSpPr>
          <p:cNvPr id="24" name="Text 20">
            <a:extLst>
              <a:ext uri="{FF2B5EF4-FFF2-40B4-BE49-F238E27FC236}">
                <a16:creationId xmlns:a16="http://schemas.microsoft.com/office/drawing/2014/main" id="{2C0D72A3-328F-4E4F-9545-FE4CB923BD7C}"/>
              </a:ext>
            </a:extLst>
          </p:cNvPr>
          <p:cNvSpPr>
            <a:spLocks noGrp="1"/>
          </p:cNvSpPr>
          <p:nvPr/>
        </p:nvSpPr>
        <p:spPr>
          <a:xfrm>
            <a:off x="2053828" y="4404047"/>
            <a:ext cx="2379018" cy="92199"/>
          </a:xfrm>
          <a:prstGeom prst="rect">
            <a:avLst/>
          </a:prstGeom>
          <a:noFill/>
        </p:spPr>
        <p:txBody>
          <a:bodyPr wrap="none" lIns="0" tIns="0" rIns="0" bIns="0" anchor="t"/>
          <a:lstStyle/>
          <a:p>
            <a:pPr marL="0" indent="0" algn="l">
              <a:lnSpc>
                <a:spcPct val="102000"/>
              </a:lnSpc>
              <a:buNone/>
            </a:pPr>
            <a:r>
              <a:rPr sz="550">
                <a:solidFill>
                  <a:srgbClr val="4C4C4C"/>
                </a:solidFill>
                <a:latin typeface="Noto Serif"/>
                <a:ea typeface="Noto Serif"/>
                <a:cs typeface="Noto Serif"/>
              </a:rPr>
              <a:t>RMSE (Root Mean Square Error)</a:t>
            </a:r>
          </a:p>
        </p:txBody>
      </p:sp>
      <p:sp>
        <p:nvSpPr>
          <p:cNvPr id="25" name="Shape 21">
            <a:extLst>
              <a:ext uri="{FF2B5EF4-FFF2-40B4-BE49-F238E27FC236}">
                <a16:creationId xmlns:a16="http://schemas.microsoft.com/office/drawing/2014/main" id="{E5A20AB2-0F3B-4BDC-89A6-5C0FC5DF64DF}"/>
              </a:ext>
            </a:extLst>
          </p:cNvPr>
          <p:cNvSpPr>
            <a:spLocks noGrp="1"/>
          </p:cNvSpPr>
          <p:nvPr/>
        </p:nvSpPr>
        <p:spPr>
          <a:xfrm>
            <a:off x="4131022" y="4404047"/>
            <a:ext cx="1919436" cy="242813"/>
          </a:xfrm>
          <a:prstGeom prst="roundRect">
            <a:avLst>
              <a:gd name="adj" fmla="val 13027"/>
            </a:avLst>
          </a:prstGeom>
          <a:solidFill>
            <a:srgbClr val="F0EEEA"/>
          </a:solidFill>
        </p:spPr>
        <p:txBody>
          <a:bodyPr/>
          <a:lstStyle/>
          <a:p>
            <a:endParaRPr lang="fr-FR"/>
          </a:p>
        </p:txBody>
      </p:sp>
      <p:sp>
        <p:nvSpPr>
          <p:cNvPr id="26" name="Shape 22">
            <a:extLst>
              <a:ext uri="{FF2B5EF4-FFF2-40B4-BE49-F238E27FC236}">
                <a16:creationId xmlns:a16="http://schemas.microsoft.com/office/drawing/2014/main" id="{D13ECF9E-5CF9-441B-9255-B1733766607D}"/>
              </a:ext>
            </a:extLst>
          </p:cNvPr>
          <p:cNvSpPr>
            <a:spLocks noGrp="1"/>
          </p:cNvSpPr>
          <p:nvPr/>
        </p:nvSpPr>
        <p:spPr>
          <a:xfrm>
            <a:off x="4127302" y="4404047"/>
            <a:ext cx="1926878" cy="242813"/>
          </a:xfrm>
          <a:prstGeom prst="roundRect">
            <a:avLst>
              <a:gd name="adj" fmla="val 4653"/>
            </a:avLst>
          </a:prstGeom>
          <a:solidFill>
            <a:srgbClr val="F0EEEA"/>
          </a:solidFill>
        </p:spPr>
        <p:txBody>
          <a:bodyPr/>
          <a:lstStyle/>
          <a:p>
            <a:endParaRPr lang="fr-FR"/>
          </a:p>
        </p:txBody>
      </p:sp>
      <p:sp>
        <p:nvSpPr>
          <p:cNvPr id="27" name="Text 23">
            <a:extLst>
              <a:ext uri="{FF2B5EF4-FFF2-40B4-BE49-F238E27FC236}">
                <a16:creationId xmlns:a16="http://schemas.microsoft.com/office/drawing/2014/main" id="{657853A0-EC2D-4674-8F36-2557F1513F24}"/>
              </a:ext>
            </a:extLst>
          </p:cNvPr>
          <p:cNvSpPr>
            <a:spLocks noGrp="1"/>
          </p:cNvSpPr>
          <p:nvPr/>
        </p:nvSpPr>
        <p:spPr>
          <a:xfrm>
            <a:off x="4221435" y="4479354"/>
            <a:ext cx="2195810" cy="92199"/>
          </a:xfrm>
          <a:prstGeom prst="rect">
            <a:avLst/>
          </a:prstGeom>
          <a:noFill/>
        </p:spPr>
        <p:txBody>
          <a:bodyPr wrap="none" lIns="0" tIns="0" rIns="0" bIns="0" anchor="t"/>
          <a:lstStyle/>
          <a:p>
            <a:pPr marL="0" indent="0" algn="l">
              <a:lnSpc>
                <a:spcPct val="102000"/>
              </a:lnSpc>
              <a:buNone/>
            </a:pPr>
            <a:r>
              <a:rPr sz="550">
                <a:solidFill>
                  <a:srgbClr val="4C4C4C"/>
                </a:solidFill>
                <a:highlight>
                  <a:srgbClr val="F0EEEA"/>
                </a:highlight>
                <a:latin typeface="Consolas"/>
                <a:ea typeface="Consolas"/>
                <a:cs typeface="Consolas"/>
              </a:rPr>
              <a:t>√(moyenne((prédit - réel)²)) </a:t>
            </a:r>
          </a:p>
        </p:txBody>
      </p:sp>
      <p:sp>
        <p:nvSpPr>
          <p:cNvPr id="28" name="Text 24">
            <a:extLst>
              <a:ext uri="{FF2B5EF4-FFF2-40B4-BE49-F238E27FC236}">
                <a16:creationId xmlns:a16="http://schemas.microsoft.com/office/drawing/2014/main" id="{816B8351-1FF9-4AD0-98B8-4E0D5A57790D}"/>
              </a:ext>
            </a:extLst>
          </p:cNvPr>
          <p:cNvSpPr>
            <a:spLocks noGrp="1"/>
          </p:cNvSpPr>
          <p:nvPr/>
        </p:nvSpPr>
        <p:spPr>
          <a:xfrm>
            <a:off x="6205835" y="4404047"/>
            <a:ext cx="884411" cy="184398"/>
          </a:xfrm>
          <a:prstGeom prst="rect">
            <a:avLst/>
          </a:prstGeom>
          <a:noFill/>
        </p:spPr>
        <p:txBody>
          <a:bodyPr wrap="square" lIns="0" tIns="0" rIns="0" bIns="0" anchor="t">
            <a:normAutofit/>
          </a:bodyPr>
          <a:lstStyle/>
          <a:p>
            <a:pPr marL="0" indent="0" algn="l">
              <a:lnSpc>
                <a:spcPct val="102000"/>
              </a:lnSpc>
              <a:buNone/>
            </a:pPr>
            <a:r>
              <a:rPr sz="550">
                <a:solidFill>
                  <a:srgbClr val="4C4C4C"/>
                </a:solidFill>
                <a:latin typeface="Noto Serif"/>
                <a:ea typeface="Noto Serif"/>
                <a:cs typeface="Noto Serif"/>
              </a:rPr>
              <a:t>264€  d'erreur quadratique</a:t>
            </a:r>
          </a:p>
        </p:txBody>
      </p:sp>
    </p:spTree>
    <p:extLst>
      <p:ext uri="{BB962C8B-B14F-4D97-AF65-F5344CB8AC3E}">
        <p14:creationId xmlns:p14="http://schemas.microsoft.com/office/powerpoint/2010/main" val="19981571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4ED231D-5063-403C-98E5-340196613A59}"/>
              </a:ext>
            </a:extLst>
          </p:cNvPr>
          <p:cNvSpPr>
            <a:spLocks noGrp="1"/>
          </p:cNvSpPr>
          <p:nvPr/>
        </p:nvSpPr>
        <p:spPr>
          <a:xfrm>
            <a:off x="2571304" y="2350219"/>
            <a:ext cx="4001319" cy="442987"/>
          </a:xfrm>
          <a:prstGeom prst="rect">
            <a:avLst/>
          </a:prstGeom>
          <a:noFill/>
        </p:spPr>
        <p:txBody>
          <a:bodyPr wrap="none" lIns="0" tIns="0" rIns="0" bIns="0" anchor="t"/>
          <a:lstStyle/>
          <a:p>
            <a:pPr marL="0" indent="0" algn="ctr">
              <a:lnSpc>
                <a:spcPct val="104000"/>
              </a:lnSpc>
              <a:buNone/>
            </a:pPr>
            <a:r>
              <a:rPr sz="2750">
                <a:solidFill>
                  <a:srgbClr val="3A3A3A"/>
                </a:solidFill>
                <a:latin typeface="Noto Serif Medium"/>
                <a:ea typeface="Noto Serif Medium"/>
                <a:cs typeface="Noto Serif Medium"/>
              </a:rPr>
              <a:t>Démonstration</a:t>
            </a:r>
          </a:p>
        </p:txBody>
      </p:sp>
    </p:spTree>
    <p:extLst>
      <p:ext uri="{BB962C8B-B14F-4D97-AF65-F5344CB8AC3E}">
        <p14:creationId xmlns:p14="http://schemas.microsoft.com/office/powerpoint/2010/main" val="14789563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 coins arrondis 12">
            <a:extLst>
              <a:ext uri="{FF2B5EF4-FFF2-40B4-BE49-F238E27FC236}">
                <a16:creationId xmlns:a16="http://schemas.microsoft.com/office/drawing/2014/main" id="{F62446F0-F5BA-4F93-AD8E-2C9C5EA486AF}"/>
              </a:ext>
            </a:extLst>
          </p:cNvPr>
          <p:cNvSpPr>
            <a:spLocks noGrp="1"/>
          </p:cNvSpPr>
          <p:nvPr/>
        </p:nvSpPr>
        <p:spPr>
          <a:xfrm>
            <a:off x="495299" y="514350"/>
            <a:ext cx="918411" cy="257175"/>
          </a:xfrm>
          <a:prstGeom prst="roundRect">
            <a:avLst>
              <a:gd name="adj" fmla="val 21429"/>
            </a:avLst>
          </a:prstGeom>
          <a:solidFill>
            <a:srgbClr val="E8E6E3"/>
          </a:solidFill>
          <a:ln w="0">
            <a:noFill/>
            <a:prstDash val="solid"/>
          </a:ln>
        </p:spPr>
        <p:txBody>
          <a:bodyPr/>
          <a:lstStyle/>
          <a:p>
            <a:endParaRPr lang="fr-FR"/>
          </a:p>
        </p:txBody>
      </p:sp>
      <p:sp>
        <p:nvSpPr>
          <p:cNvPr id="2" name="Rectangle 1">
            <a:extLst>
              <a:ext uri="{FF2B5EF4-FFF2-40B4-BE49-F238E27FC236}">
                <a16:creationId xmlns:a16="http://schemas.microsoft.com/office/drawing/2014/main" id="{F209C04A-4E43-4D59-A316-829B4E59B313}"/>
              </a:ext>
            </a:extLst>
          </p:cNvPr>
          <p:cNvSpPr>
            <a:spLocks noGrp="1"/>
          </p:cNvSpPr>
          <p:nvPr/>
        </p:nvSpPr>
        <p:spPr>
          <a:xfrm>
            <a:off x="621129" y="533400"/>
            <a:ext cx="666750" cy="152400"/>
          </a:xfrm>
          <a:prstGeom prst="rect">
            <a:avLst/>
          </a:prstGeom>
          <a:noFill/>
          <a:ln w="0">
            <a:noFill/>
            <a:prstDash val="solid"/>
          </a:ln>
        </p:spPr>
        <p:txBody>
          <a:bodyPr wrap="none"/>
          <a:lstStyle/>
          <a:p>
            <a:pPr>
              <a:defRPr sz="788" b="1">
                <a:solidFill>
                  <a:srgbClr val="9C9283"/>
                </a:solidFill>
                <a:latin typeface="Noto Serif"/>
                <a:ea typeface="Noto Serif"/>
                <a:cs typeface="Noto Serif"/>
              </a:defRPr>
            </a:pPr>
            <a:r>
              <a:rPr sz="788" b="1" dirty="0">
                <a:solidFill>
                  <a:srgbClr val="9C9283"/>
                </a:solidFill>
                <a:latin typeface="Noto Serif"/>
                <a:ea typeface="Noto Serif"/>
                <a:cs typeface="Noto Serif"/>
              </a:rPr>
              <a:t>ROADMAP</a:t>
            </a:r>
          </a:p>
        </p:txBody>
      </p:sp>
      <p:sp>
        <p:nvSpPr>
          <p:cNvPr id="3" name="Rectangle 2">
            <a:extLst>
              <a:ext uri="{FF2B5EF4-FFF2-40B4-BE49-F238E27FC236}">
                <a16:creationId xmlns:a16="http://schemas.microsoft.com/office/drawing/2014/main" id="{E51E2D5A-10F6-47AD-8E83-DC687D51CE9F}"/>
              </a:ext>
            </a:extLst>
          </p:cNvPr>
          <p:cNvSpPr>
            <a:spLocks noGrp="1"/>
          </p:cNvSpPr>
          <p:nvPr/>
        </p:nvSpPr>
        <p:spPr>
          <a:xfrm>
            <a:off x="495300" y="876300"/>
            <a:ext cx="6858000" cy="476250"/>
          </a:xfrm>
          <a:prstGeom prst="rect">
            <a:avLst/>
          </a:prstGeom>
          <a:noFill/>
          <a:ln w="0">
            <a:noFill/>
            <a:prstDash val="solid"/>
          </a:ln>
        </p:spPr>
        <p:txBody>
          <a:bodyPr wrap="none"/>
          <a:lstStyle/>
          <a:p>
            <a:pPr>
              <a:defRPr sz="2550" b="0">
                <a:solidFill>
                  <a:srgbClr val="3A3A3A"/>
                </a:solidFill>
                <a:latin typeface="Noto Serif Medium"/>
                <a:ea typeface="Noto Serif Medium"/>
                <a:cs typeface="Noto Serif Medium"/>
              </a:defRPr>
            </a:pPr>
            <a:r>
              <a:rPr sz="2550" b="0">
                <a:solidFill>
                  <a:srgbClr val="3A3A3A"/>
                </a:solidFill>
                <a:latin typeface="Noto Serif Medium"/>
                <a:ea typeface="Noto Serif Medium"/>
                <a:cs typeface="Noto Serif Medium"/>
              </a:rPr>
              <a:t>Limites &amp; améliorations</a:t>
            </a:r>
          </a:p>
        </p:txBody>
      </p:sp>
      <p:sp>
        <p:nvSpPr>
          <p:cNvPr id="4" name="Rectangle 3">
            <a:extLst>
              <a:ext uri="{FF2B5EF4-FFF2-40B4-BE49-F238E27FC236}">
                <a16:creationId xmlns:a16="http://schemas.microsoft.com/office/drawing/2014/main" id="{06DEE478-1859-4A8D-B175-427D1067E7C7}"/>
              </a:ext>
            </a:extLst>
          </p:cNvPr>
          <p:cNvSpPr>
            <a:spLocks noGrp="1"/>
          </p:cNvSpPr>
          <p:nvPr/>
        </p:nvSpPr>
        <p:spPr>
          <a:xfrm>
            <a:off x="495300" y="1381125"/>
            <a:ext cx="7239000" cy="400050"/>
          </a:xfrm>
          <a:prstGeom prst="rect">
            <a:avLst/>
          </a:prstGeom>
          <a:noFill/>
          <a:ln w="0">
            <a:noFill/>
            <a:prstDash val="solid"/>
          </a:ln>
        </p:spPr>
        <p:txBody>
          <a:bodyPr wrap="square">
            <a:normAutofit/>
          </a:bodyPr>
          <a:lstStyle/>
          <a:p>
            <a:pPr>
              <a:defRPr sz="930" b="0">
                <a:solidFill>
                  <a:srgbClr val="4C4C4C"/>
                </a:solidFill>
                <a:latin typeface="Noto Serif"/>
                <a:ea typeface="Noto Serif"/>
                <a:cs typeface="Noto Serif"/>
              </a:defRPr>
            </a:pPr>
            <a:r>
              <a:rPr sz="930" b="0">
                <a:solidFill>
                  <a:srgbClr val="4C4C4C"/>
                </a:solidFill>
                <a:latin typeface="Noto Serif"/>
                <a:ea typeface="Noto Serif"/>
                <a:cs typeface="Noto Serif"/>
              </a:rPr>
              <a:t>Ce qui fonctionne aujourd'hui pose les bases d'un produit exploitable, mais la version suivante doit renforcer fiabilité, sécurité cloud et qualité des prédictions.</a:t>
            </a:r>
          </a:p>
        </p:txBody>
      </p:sp>
      <p:sp>
        <p:nvSpPr>
          <p:cNvPr id="5" name="Rectangle : coins arrondis 4">
            <a:extLst>
              <a:ext uri="{FF2B5EF4-FFF2-40B4-BE49-F238E27FC236}">
                <a16:creationId xmlns:a16="http://schemas.microsoft.com/office/drawing/2014/main" id="{81D0ACC9-F5EC-40E0-B7E6-2E6B74CBD52F}"/>
              </a:ext>
            </a:extLst>
          </p:cNvPr>
          <p:cNvSpPr>
            <a:spLocks noGrp="1"/>
          </p:cNvSpPr>
          <p:nvPr/>
        </p:nvSpPr>
        <p:spPr>
          <a:xfrm>
            <a:off x="495300" y="1885950"/>
            <a:ext cx="3905250" cy="2247900"/>
          </a:xfrm>
          <a:prstGeom prst="roundRect">
            <a:avLst>
              <a:gd name="adj" fmla="val 3390"/>
            </a:avLst>
          </a:prstGeom>
          <a:solidFill>
            <a:srgbClr val="F6F2EB"/>
          </a:solidFill>
          <a:ln w="9525">
            <a:solidFill>
              <a:srgbClr val="D8D1C7"/>
            </a:solidFill>
            <a:prstDash val="solid"/>
          </a:ln>
        </p:spPr>
        <p:txBody>
          <a:bodyPr/>
          <a:lstStyle/>
          <a:p>
            <a:endParaRPr lang="fr-FR"/>
          </a:p>
        </p:txBody>
      </p:sp>
      <p:sp>
        <p:nvSpPr>
          <p:cNvPr id="6" name="Rectangle 5">
            <a:extLst>
              <a:ext uri="{FF2B5EF4-FFF2-40B4-BE49-F238E27FC236}">
                <a16:creationId xmlns:a16="http://schemas.microsoft.com/office/drawing/2014/main" id="{B5862284-4ECC-49E7-A6F1-34279AFB539F}"/>
              </a:ext>
            </a:extLst>
          </p:cNvPr>
          <p:cNvSpPr>
            <a:spLocks noGrp="1"/>
          </p:cNvSpPr>
          <p:nvPr/>
        </p:nvSpPr>
        <p:spPr>
          <a:xfrm>
            <a:off x="685800" y="2047875"/>
            <a:ext cx="3524250" cy="266700"/>
          </a:xfrm>
          <a:prstGeom prst="rect">
            <a:avLst/>
          </a:prstGeom>
          <a:noFill/>
          <a:ln w="0">
            <a:noFill/>
            <a:prstDash val="solid"/>
          </a:ln>
        </p:spPr>
        <p:txBody>
          <a:bodyPr wrap="square">
            <a:normAutofit fontScale="97696" lnSpcReduction="10000"/>
          </a:bodyPr>
          <a:lstStyle/>
          <a:p>
            <a:pPr>
              <a:defRPr sz="1275" b="0">
                <a:solidFill>
                  <a:srgbClr val="4C4C4C"/>
                </a:solidFill>
                <a:latin typeface="Noto Serif Medium"/>
                <a:ea typeface="Noto Serif Medium"/>
                <a:cs typeface="Noto Serif Medium"/>
              </a:defRPr>
            </a:pPr>
            <a:r>
              <a:rPr sz="1275" b="0">
                <a:solidFill>
                  <a:srgbClr val="4C4C4C"/>
                </a:solidFill>
                <a:latin typeface="Noto Serif Medium"/>
                <a:ea typeface="Noto Serif Medium"/>
                <a:cs typeface="Noto Serif Medium"/>
              </a:rPr>
              <a:t>Limites actuelles</a:t>
            </a:r>
          </a:p>
        </p:txBody>
      </p:sp>
      <p:sp>
        <p:nvSpPr>
          <p:cNvPr id="7" name="Rectangle 6">
            <a:extLst>
              <a:ext uri="{FF2B5EF4-FFF2-40B4-BE49-F238E27FC236}">
                <a16:creationId xmlns:a16="http://schemas.microsoft.com/office/drawing/2014/main" id="{4040D4AF-CD36-489C-A46B-7D7EDE2BF43F}"/>
              </a:ext>
            </a:extLst>
          </p:cNvPr>
          <p:cNvSpPr>
            <a:spLocks noGrp="1"/>
          </p:cNvSpPr>
          <p:nvPr/>
        </p:nvSpPr>
        <p:spPr>
          <a:xfrm>
            <a:off x="685800" y="2438400"/>
            <a:ext cx="3524250" cy="1562100"/>
          </a:xfrm>
          <a:prstGeom prst="rect">
            <a:avLst/>
          </a:prstGeom>
          <a:noFill/>
          <a:ln w="0">
            <a:noFill/>
            <a:prstDash val="solid"/>
          </a:ln>
        </p:spPr>
        <p:txBody>
          <a:bodyPr wrap="square">
            <a:normAutofit/>
          </a:bodyPr>
          <a:lstStyle/>
          <a:p>
            <a:pPr>
              <a:defRPr sz="938" b="0">
                <a:solidFill>
                  <a:srgbClr val="4C4C4C"/>
                </a:solidFill>
                <a:latin typeface="Noto Serif"/>
                <a:ea typeface="Noto Serif"/>
                <a:cs typeface="Noto Serif"/>
              </a:defRPr>
            </a:pPr>
            <a:r>
              <a:rPr sz="938" b="0">
                <a:solidFill>
                  <a:srgbClr val="4C4C4C"/>
                </a:solidFill>
                <a:latin typeface="Noto Serif"/>
                <a:ea typeface="Noto Serif"/>
                <a:cs typeface="Noto Serif"/>
              </a:rPr>
              <a:t>- OCR dépendant de la qualité des PDF fournisseurs</a:t>
            </a:r>
          </a:p>
          <a:p>
            <a:pPr>
              <a:defRPr sz="938" b="0">
                <a:solidFill>
                  <a:srgbClr val="4C4C4C"/>
                </a:solidFill>
                <a:latin typeface="Noto Serif"/>
                <a:ea typeface="Noto Serif"/>
                <a:cs typeface="Noto Serif"/>
              </a:defRPr>
            </a:pPr>
            <a:r>
              <a:rPr sz="938" b="0">
                <a:solidFill>
                  <a:srgbClr val="4C4C4C"/>
                </a:solidFill>
                <a:latin typeface="Noto Serif"/>
                <a:ea typeface="Noto Serif"/>
                <a:cs typeface="Noto Serif"/>
              </a:rPr>
              <a:t>- Textract appelé en synchrone, avec limite pratique de taille PDF</a:t>
            </a:r>
          </a:p>
          <a:p>
            <a:pPr>
              <a:defRPr sz="938" b="0">
                <a:solidFill>
                  <a:srgbClr val="4C4C4C"/>
                </a:solidFill>
                <a:latin typeface="Noto Serif"/>
                <a:ea typeface="Noto Serif"/>
                <a:cs typeface="Noto Serif"/>
              </a:defRPr>
            </a:pPr>
            <a:r>
              <a:rPr sz="938" b="0">
                <a:solidFill>
                  <a:srgbClr val="4C4C4C"/>
                </a:solidFill>
                <a:latin typeface="Noto Serif"/>
                <a:ea typeface="Noto Serif"/>
                <a:cs typeface="Noto Serif"/>
              </a:rPr>
              <a:t>- Prophet sensible au volume historique et aux ruptures d'activité</a:t>
            </a:r>
          </a:p>
          <a:p>
            <a:pPr>
              <a:defRPr sz="938" b="0">
                <a:solidFill>
                  <a:srgbClr val="4C4C4C"/>
                </a:solidFill>
                <a:latin typeface="Noto Serif"/>
                <a:ea typeface="Noto Serif"/>
                <a:cs typeface="Noto Serif"/>
              </a:defRPr>
            </a:pPr>
            <a:r>
              <a:rPr sz="938" b="0">
                <a:solidFill>
                  <a:srgbClr val="4C4C4C"/>
                </a:solidFill>
                <a:latin typeface="Noto Serif"/>
                <a:ea typeface="Noto Serif"/>
                <a:cs typeface="Noto Serif"/>
              </a:rPr>
              <a:t>- Secrets, coûts AWS et accès RDS à durcir avant production</a:t>
            </a:r>
          </a:p>
          <a:p>
            <a:pPr>
              <a:defRPr sz="938" b="0">
                <a:solidFill>
                  <a:srgbClr val="4C4C4C"/>
                </a:solidFill>
                <a:latin typeface="Noto Serif"/>
                <a:ea typeface="Noto Serif"/>
                <a:cs typeface="Noto Serif"/>
              </a:defRPr>
            </a:pPr>
            <a:r>
              <a:rPr sz="938" b="0">
                <a:solidFill>
                  <a:srgbClr val="4C4C4C"/>
                </a:solidFill>
                <a:latin typeface="Noto Serif"/>
                <a:ea typeface="Noto Serif"/>
                <a:cs typeface="Noto Serif"/>
              </a:rPr>
              <a:t>- Chatbot limité aux données déjà présentes en base</a:t>
            </a:r>
          </a:p>
        </p:txBody>
      </p:sp>
      <p:sp>
        <p:nvSpPr>
          <p:cNvPr id="8" name="Rectangle : coins arrondis 7">
            <a:extLst>
              <a:ext uri="{FF2B5EF4-FFF2-40B4-BE49-F238E27FC236}">
                <a16:creationId xmlns:a16="http://schemas.microsoft.com/office/drawing/2014/main" id="{77D3A1D5-C61F-4557-B77F-F4B9741AB3A6}"/>
              </a:ext>
            </a:extLst>
          </p:cNvPr>
          <p:cNvSpPr>
            <a:spLocks noGrp="1"/>
          </p:cNvSpPr>
          <p:nvPr/>
        </p:nvSpPr>
        <p:spPr>
          <a:xfrm>
            <a:off x="4743450" y="1885950"/>
            <a:ext cx="3905250" cy="2247900"/>
          </a:xfrm>
          <a:prstGeom prst="roundRect">
            <a:avLst>
              <a:gd name="adj" fmla="val 3390"/>
            </a:avLst>
          </a:prstGeom>
          <a:solidFill>
            <a:srgbClr val="F6F2EB"/>
          </a:solidFill>
          <a:ln w="9525">
            <a:solidFill>
              <a:srgbClr val="D8D1C7"/>
            </a:solidFill>
            <a:prstDash val="solid"/>
          </a:ln>
        </p:spPr>
        <p:txBody>
          <a:bodyPr/>
          <a:lstStyle/>
          <a:p>
            <a:endParaRPr lang="fr-FR"/>
          </a:p>
        </p:txBody>
      </p:sp>
      <p:sp>
        <p:nvSpPr>
          <p:cNvPr id="9" name="Rectangle 8">
            <a:extLst>
              <a:ext uri="{FF2B5EF4-FFF2-40B4-BE49-F238E27FC236}">
                <a16:creationId xmlns:a16="http://schemas.microsoft.com/office/drawing/2014/main" id="{9684D51A-9A02-4968-BB2F-A5B111A96378}"/>
              </a:ext>
            </a:extLst>
          </p:cNvPr>
          <p:cNvSpPr>
            <a:spLocks noGrp="1"/>
          </p:cNvSpPr>
          <p:nvPr/>
        </p:nvSpPr>
        <p:spPr>
          <a:xfrm>
            <a:off x="4933950" y="2047875"/>
            <a:ext cx="3524250" cy="266700"/>
          </a:xfrm>
          <a:prstGeom prst="rect">
            <a:avLst/>
          </a:prstGeom>
          <a:noFill/>
          <a:ln w="0">
            <a:noFill/>
            <a:prstDash val="solid"/>
          </a:ln>
        </p:spPr>
        <p:txBody>
          <a:bodyPr wrap="square">
            <a:normAutofit fontScale="97696" lnSpcReduction="10000"/>
          </a:bodyPr>
          <a:lstStyle/>
          <a:p>
            <a:pPr>
              <a:defRPr sz="1275" b="0">
                <a:solidFill>
                  <a:srgbClr val="4C4C4C"/>
                </a:solidFill>
                <a:latin typeface="Noto Serif Medium"/>
                <a:ea typeface="Noto Serif Medium"/>
                <a:cs typeface="Noto Serif Medium"/>
              </a:defRPr>
            </a:pPr>
            <a:r>
              <a:rPr sz="1275" b="0">
                <a:solidFill>
                  <a:srgbClr val="4C4C4C"/>
                </a:solidFill>
                <a:latin typeface="Noto Serif Medium"/>
                <a:ea typeface="Noto Serif Medium"/>
                <a:cs typeface="Noto Serif Medium"/>
              </a:rPr>
              <a:t>Améliorations prioritaires</a:t>
            </a:r>
          </a:p>
        </p:txBody>
      </p:sp>
      <p:sp>
        <p:nvSpPr>
          <p:cNvPr id="10" name="Rectangle 9">
            <a:extLst>
              <a:ext uri="{FF2B5EF4-FFF2-40B4-BE49-F238E27FC236}">
                <a16:creationId xmlns:a16="http://schemas.microsoft.com/office/drawing/2014/main" id="{3DCD0DAE-1C59-4061-A0BB-2B73C4C18770}"/>
              </a:ext>
            </a:extLst>
          </p:cNvPr>
          <p:cNvSpPr>
            <a:spLocks noGrp="1"/>
          </p:cNvSpPr>
          <p:nvPr/>
        </p:nvSpPr>
        <p:spPr>
          <a:xfrm>
            <a:off x="4933950" y="2438400"/>
            <a:ext cx="3524250" cy="1562100"/>
          </a:xfrm>
          <a:prstGeom prst="rect">
            <a:avLst/>
          </a:prstGeom>
          <a:noFill/>
          <a:ln w="0">
            <a:noFill/>
            <a:prstDash val="solid"/>
          </a:ln>
        </p:spPr>
        <p:txBody>
          <a:bodyPr wrap="square">
            <a:normAutofit/>
          </a:bodyPr>
          <a:lstStyle/>
          <a:p>
            <a:pPr>
              <a:defRPr sz="938" b="0">
                <a:solidFill>
                  <a:srgbClr val="4C4C4C"/>
                </a:solidFill>
                <a:latin typeface="Noto Serif"/>
                <a:ea typeface="Noto Serif"/>
                <a:cs typeface="Noto Serif"/>
              </a:defRPr>
            </a:pPr>
            <a:r>
              <a:rPr sz="938" b="0" dirty="0">
                <a:solidFill>
                  <a:srgbClr val="4C4C4C"/>
                </a:solidFill>
                <a:latin typeface="Noto Serif"/>
                <a:ea typeface="Noto Serif"/>
                <a:cs typeface="Noto Serif"/>
              </a:rPr>
              <a:t>- Passer </a:t>
            </a:r>
            <a:r>
              <a:rPr sz="938" b="0" dirty="0" err="1">
                <a:solidFill>
                  <a:srgbClr val="4C4C4C"/>
                </a:solidFill>
                <a:latin typeface="Noto Serif"/>
                <a:ea typeface="Noto Serif"/>
                <a:cs typeface="Noto Serif"/>
              </a:rPr>
              <a:t>l'OCR</a:t>
            </a:r>
            <a:r>
              <a:rPr sz="938" b="0" dirty="0">
                <a:solidFill>
                  <a:srgbClr val="4C4C4C"/>
                </a:solidFill>
                <a:latin typeface="Noto Serif"/>
                <a:ea typeface="Noto Serif"/>
                <a:cs typeface="Noto Serif"/>
              </a:rPr>
              <a:t> </a:t>
            </a:r>
            <a:r>
              <a:rPr sz="938" b="0" dirty="0" err="1">
                <a:solidFill>
                  <a:srgbClr val="4C4C4C"/>
                </a:solidFill>
                <a:latin typeface="Noto Serif"/>
                <a:ea typeface="Noto Serif"/>
                <a:cs typeface="Noto Serif"/>
              </a:rPr>
              <a:t>en</a:t>
            </a:r>
            <a:r>
              <a:rPr sz="938" b="0" dirty="0">
                <a:solidFill>
                  <a:srgbClr val="4C4C4C"/>
                </a:solidFill>
                <a:latin typeface="Noto Serif"/>
                <a:ea typeface="Noto Serif"/>
                <a:cs typeface="Noto Serif"/>
              </a:rPr>
              <a:t> </a:t>
            </a:r>
            <a:r>
              <a:rPr sz="938" b="0" dirty="0" err="1">
                <a:solidFill>
                  <a:srgbClr val="4C4C4C"/>
                </a:solidFill>
                <a:latin typeface="Noto Serif"/>
                <a:ea typeface="Noto Serif"/>
                <a:cs typeface="Noto Serif"/>
              </a:rPr>
              <a:t>traitement</a:t>
            </a:r>
            <a:r>
              <a:rPr sz="938" b="0" dirty="0">
                <a:solidFill>
                  <a:srgbClr val="4C4C4C"/>
                </a:solidFill>
                <a:latin typeface="Noto Serif"/>
                <a:ea typeface="Noto Serif"/>
                <a:cs typeface="Noto Serif"/>
              </a:rPr>
              <a:t> </a:t>
            </a:r>
            <a:r>
              <a:rPr sz="938" b="0" dirty="0" err="1">
                <a:solidFill>
                  <a:srgbClr val="4C4C4C"/>
                </a:solidFill>
                <a:latin typeface="Noto Serif"/>
                <a:ea typeface="Noto Serif"/>
                <a:cs typeface="Noto Serif"/>
              </a:rPr>
              <a:t>asynchrone</a:t>
            </a:r>
            <a:r>
              <a:rPr sz="938" b="0" dirty="0">
                <a:solidFill>
                  <a:srgbClr val="4C4C4C"/>
                </a:solidFill>
                <a:latin typeface="Noto Serif"/>
                <a:ea typeface="Noto Serif"/>
                <a:cs typeface="Noto Serif"/>
              </a:rPr>
              <a:t> avec validation humaine</a:t>
            </a:r>
          </a:p>
          <a:p>
            <a:pPr>
              <a:defRPr sz="938" b="0">
                <a:solidFill>
                  <a:srgbClr val="4C4C4C"/>
                </a:solidFill>
                <a:latin typeface="Noto Serif"/>
                <a:ea typeface="Noto Serif"/>
                <a:cs typeface="Noto Serif"/>
              </a:defRPr>
            </a:pPr>
            <a:r>
              <a:rPr sz="938" b="0" dirty="0">
                <a:solidFill>
                  <a:srgbClr val="4C4C4C"/>
                </a:solidFill>
                <a:latin typeface="Noto Serif"/>
                <a:ea typeface="Noto Serif"/>
                <a:cs typeface="Noto Serif"/>
              </a:rPr>
              <a:t>- </a:t>
            </a:r>
            <a:r>
              <a:rPr sz="938" b="0" dirty="0" err="1">
                <a:solidFill>
                  <a:srgbClr val="4C4C4C"/>
                </a:solidFill>
                <a:latin typeface="Noto Serif"/>
                <a:ea typeface="Noto Serif"/>
                <a:cs typeface="Noto Serif"/>
              </a:rPr>
              <a:t>Sécuriser</a:t>
            </a:r>
            <a:r>
              <a:rPr sz="938" b="0" dirty="0">
                <a:solidFill>
                  <a:srgbClr val="4C4C4C"/>
                </a:solidFill>
                <a:latin typeface="Noto Serif"/>
                <a:ea typeface="Noto Serif"/>
                <a:cs typeface="Noto Serif"/>
              </a:rPr>
              <a:t> RDS via VPC, IAM strict, Secrets Manager et backups</a:t>
            </a:r>
          </a:p>
          <a:p>
            <a:pPr>
              <a:defRPr sz="938" b="0">
                <a:solidFill>
                  <a:srgbClr val="4C4C4C"/>
                </a:solidFill>
                <a:latin typeface="Noto Serif"/>
                <a:ea typeface="Noto Serif"/>
                <a:cs typeface="Noto Serif"/>
              </a:defRPr>
            </a:pPr>
            <a:r>
              <a:rPr sz="938" b="0" dirty="0">
                <a:solidFill>
                  <a:srgbClr val="4C4C4C"/>
                </a:solidFill>
                <a:latin typeface="Noto Serif"/>
                <a:ea typeface="Noto Serif"/>
                <a:cs typeface="Noto Serif"/>
              </a:rPr>
              <a:t>- </a:t>
            </a:r>
            <a:r>
              <a:rPr sz="938" b="0" dirty="0" err="1">
                <a:solidFill>
                  <a:srgbClr val="4C4C4C"/>
                </a:solidFill>
                <a:latin typeface="Noto Serif"/>
                <a:ea typeface="Noto Serif"/>
                <a:cs typeface="Noto Serif"/>
              </a:rPr>
              <a:t>Ajouter</a:t>
            </a:r>
            <a:r>
              <a:rPr sz="938" b="0" dirty="0">
                <a:solidFill>
                  <a:srgbClr val="4C4C4C"/>
                </a:solidFill>
                <a:latin typeface="Noto Serif"/>
                <a:ea typeface="Noto Serif"/>
                <a:cs typeface="Noto Serif"/>
              </a:rPr>
              <a:t> CloudWatch, </a:t>
            </a:r>
            <a:r>
              <a:rPr sz="938" b="0" dirty="0" err="1">
                <a:solidFill>
                  <a:srgbClr val="4C4C4C"/>
                </a:solidFill>
                <a:latin typeface="Noto Serif"/>
                <a:ea typeface="Noto Serif"/>
                <a:cs typeface="Noto Serif"/>
              </a:rPr>
              <a:t>alertes</a:t>
            </a:r>
            <a:r>
              <a:rPr sz="938" b="0" dirty="0">
                <a:solidFill>
                  <a:srgbClr val="4C4C4C"/>
                </a:solidFill>
                <a:latin typeface="Noto Serif"/>
                <a:ea typeface="Noto Serif"/>
                <a:cs typeface="Noto Serif"/>
              </a:rPr>
              <a:t> </a:t>
            </a:r>
            <a:r>
              <a:rPr sz="938" b="0" dirty="0" err="1">
                <a:solidFill>
                  <a:srgbClr val="4C4C4C"/>
                </a:solidFill>
                <a:latin typeface="Noto Serif"/>
                <a:ea typeface="Noto Serif"/>
                <a:cs typeface="Noto Serif"/>
              </a:rPr>
              <a:t>coûts</a:t>
            </a:r>
            <a:r>
              <a:rPr sz="938" b="0" dirty="0">
                <a:solidFill>
                  <a:srgbClr val="4C4C4C"/>
                </a:solidFill>
                <a:latin typeface="Noto Serif"/>
                <a:ea typeface="Noto Serif"/>
                <a:cs typeface="Noto Serif"/>
              </a:rPr>
              <a:t> et </a:t>
            </a:r>
            <a:r>
              <a:rPr sz="938" b="0" dirty="0" err="1">
                <a:solidFill>
                  <a:srgbClr val="4C4C4C"/>
                </a:solidFill>
                <a:latin typeface="Noto Serif"/>
                <a:ea typeface="Noto Serif"/>
                <a:cs typeface="Noto Serif"/>
              </a:rPr>
              <a:t>suivi</a:t>
            </a:r>
            <a:r>
              <a:rPr sz="938" b="0" dirty="0">
                <a:solidFill>
                  <a:srgbClr val="4C4C4C"/>
                </a:solidFill>
                <a:latin typeface="Noto Serif"/>
                <a:ea typeface="Noto Serif"/>
                <a:cs typeface="Noto Serif"/>
              </a:rPr>
              <a:t> des </a:t>
            </a:r>
            <a:r>
              <a:rPr sz="938" b="0" dirty="0" err="1">
                <a:solidFill>
                  <a:srgbClr val="4C4C4C"/>
                </a:solidFill>
                <a:latin typeface="Noto Serif"/>
                <a:ea typeface="Noto Serif"/>
                <a:cs typeface="Noto Serif"/>
              </a:rPr>
              <a:t>erreurs</a:t>
            </a:r>
            <a:r>
              <a:rPr sz="938" b="0" dirty="0">
                <a:solidFill>
                  <a:srgbClr val="4C4C4C"/>
                </a:solidFill>
                <a:latin typeface="Noto Serif"/>
                <a:ea typeface="Noto Serif"/>
                <a:cs typeface="Noto Serif"/>
              </a:rPr>
              <a:t> API</a:t>
            </a:r>
          </a:p>
          <a:p>
            <a:pPr>
              <a:defRPr sz="938" b="0">
                <a:solidFill>
                  <a:srgbClr val="4C4C4C"/>
                </a:solidFill>
                <a:latin typeface="Noto Serif"/>
                <a:ea typeface="Noto Serif"/>
                <a:cs typeface="Noto Serif"/>
              </a:defRPr>
            </a:pPr>
            <a:r>
              <a:rPr sz="938" b="0" dirty="0">
                <a:solidFill>
                  <a:srgbClr val="4C4C4C"/>
                </a:solidFill>
                <a:latin typeface="Noto Serif"/>
                <a:ea typeface="Noto Serif"/>
                <a:cs typeface="Noto Serif"/>
              </a:rPr>
              <a:t>- </a:t>
            </a:r>
            <a:r>
              <a:rPr sz="938" b="0" dirty="0" err="1">
                <a:solidFill>
                  <a:srgbClr val="4C4C4C"/>
                </a:solidFill>
                <a:latin typeface="Noto Serif"/>
                <a:ea typeface="Noto Serif"/>
                <a:cs typeface="Noto Serif"/>
              </a:rPr>
              <a:t>Enrichir</a:t>
            </a:r>
            <a:r>
              <a:rPr sz="938" b="0" dirty="0">
                <a:solidFill>
                  <a:srgbClr val="4C4C4C"/>
                </a:solidFill>
                <a:latin typeface="Noto Serif"/>
                <a:ea typeface="Noto Serif"/>
                <a:cs typeface="Noto Serif"/>
              </a:rPr>
              <a:t> Prophet avec </a:t>
            </a:r>
            <a:r>
              <a:rPr sz="938" b="0" dirty="0" err="1">
                <a:solidFill>
                  <a:srgbClr val="4C4C4C"/>
                </a:solidFill>
                <a:latin typeface="Noto Serif"/>
                <a:ea typeface="Noto Serif"/>
                <a:cs typeface="Noto Serif"/>
              </a:rPr>
              <a:t>météo</a:t>
            </a:r>
            <a:r>
              <a:rPr sz="938" b="0" dirty="0">
                <a:solidFill>
                  <a:srgbClr val="4C4C4C"/>
                </a:solidFill>
                <a:latin typeface="Noto Serif"/>
                <a:ea typeface="Noto Serif"/>
                <a:cs typeface="Noto Serif"/>
              </a:rPr>
              <a:t>, </a:t>
            </a:r>
            <a:r>
              <a:rPr sz="938" b="0" dirty="0" err="1">
                <a:solidFill>
                  <a:srgbClr val="4C4C4C"/>
                </a:solidFill>
                <a:latin typeface="Noto Serif"/>
                <a:ea typeface="Noto Serif"/>
                <a:cs typeface="Noto Serif"/>
              </a:rPr>
              <a:t>événements</a:t>
            </a:r>
            <a:r>
              <a:rPr sz="938" b="0" dirty="0">
                <a:solidFill>
                  <a:srgbClr val="4C4C4C"/>
                </a:solidFill>
                <a:latin typeface="Noto Serif"/>
                <a:ea typeface="Noto Serif"/>
                <a:cs typeface="Noto Serif"/>
              </a:rPr>
              <a:t> et </a:t>
            </a:r>
            <a:r>
              <a:rPr sz="938" b="0" dirty="0" err="1">
                <a:solidFill>
                  <a:srgbClr val="4C4C4C"/>
                </a:solidFill>
                <a:latin typeface="Noto Serif"/>
                <a:ea typeface="Noto Serif"/>
                <a:cs typeface="Noto Serif"/>
              </a:rPr>
              <a:t>saisonnalité</a:t>
            </a:r>
            <a:r>
              <a:rPr sz="938" b="0" dirty="0">
                <a:solidFill>
                  <a:srgbClr val="4C4C4C"/>
                </a:solidFill>
                <a:latin typeface="Noto Serif"/>
                <a:ea typeface="Noto Serif"/>
                <a:cs typeface="Noto Serif"/>
              </a:rPr>
              <a:t> locale</a:t>
            </a:r>
          </a:p>
          <a:p>
            <a:pPr>
              <a:defRPr sz="938" b="0">
                <a:solidFill>
                  <a:srgbClr val="4C4C4C"/>
                </a:solidFill>
                <a:latin typeface="Noto Serif"/>
                <a:ea typeface="Noto Serif"/>
                <a:cs typeface="Noto Serif"/>
              </a:defRPr>
            </a:pPr>
            <a:r>
              <a:rPr sz="938" b="0" dirty="0">
                <a:solidFill>
                  <a:srgbClr val="4C4C4C"/>
                </a:solidFill>
                <a:latin typeface="Noto Serif"/>
                <a:ea typeface="Noto Serif"/>
                <a:cs typeface="Noto Serif"/>
              </a:rPr>
              <a:t>- </a:t>
            </a:r>
            <a:r>
              <a:rPr sz="938" b="0" dirty="0" err="1">
                <a:solidFill>
                  <a:srgbClr val="4C4C4C"/>
                </a:solidFill>
                <a:latin typeface="Noto Serif"/>
                <a:ea typeface="Noto Serif"/>
                <a:cs typeface="Noto Serif"/>
              </a:rPr>
              <a:t>Versionner</a:t>
            </a:r>
            <a:r>
              <a:rPr sz="938" b="0" dirty="0">
                <a:solidFill>
                  <a:srgbClr val="4C4C4C"/>
                </a:solidFill>
                <a:latin typeface="Noto Serif"/>
                <a:ea typeface="Noto Serif"/>
                <a:cs typeface="Noto Serif"/>
              </a:rPr>
              <a:t> les </a:t>
            </a:r>
            <a:r>
              <a:rPr sz="938" b="0" dirty="0" err="1">
                <a:solidFill>
                  <a:srgbClr val="4C4C4C"/>
                </a:solidFill>
                <a:latin typeface="Noto Serif"/>
                <a:ea typeface="Noto Serif"/>
                <a:cs typeface="Noto Serif"/>
              </a:rPr>
              <a:t>modèles</a:t>
            </a:r>
            <a:r>
              <a:rPr sz="938" b="0" dirty="0">
                <a:solidFill>
                  <a:srgbClr val="4C4C4C"/>
                </a:solidFill>
                <a:latin typeface="Noto Serif"/>
                <a:ea typeface="Noto Serif"/>
                <a:cs typeface="Noto Serif"/>
              </a:rPr>
              <a:t> avec </a:t>
            </a:r>
            <a:r>
              <a:rPr sz="938" b="0" dirty="0" err="1">
                <a:solidFill>
                  <a:srgbClr val="4C4C4C"/>
                </a:solidFill>
                <a:latin typeface="Noto Serif"/>
                <a:ea typeface="Noto Serif"/>
                <a:cs typeface="Noto Serif"/>
              </a:rPr>
              <a:t>métriques</a:t>
            </a:r>
            <a:r>
              <a:rPr sz="938" b="0" dirty="0">
                <a:solidFill>
                  <a:srgbClr val="4C4C4C"/>
                </a:solidFill>
                <a:latin typeface="Noto Serif"/>
                <a:ea typeface="Noto Serif"/>
                <a:cs typeface="Noto Serif"/>
              </a:rPr>
              <a:t> de </a:t>
            </a:r>
            <a:r>
              <a:rPr sz="938" b="0" dirty="0" err="1">
                <a:solidFill>
                  <a:srgbClr val="4C4C4C"/>
                </a:solidFill>
                <a:latin typeface="Noto Serif"/>
                <a:ea typeface="Noto Serif"/>
                <a:cs typeface="Noto Serif"/>
              </a:rPr>
              <a:t>précision</a:t>
            </a:r>
            <a:endParaRPr sz="938" b="0" dirty="0">
              <a:solidFill>
                <a:srgbClr val="4C4C4C"/>
              </a:solidFill>
              <a:latin typeface="Noto Serif"/>
              <a:ea typeface="Noto Serif"/>
              <a:cs typeface="Noto Serif"/>
            </a:endParaRPr>
          </a:p>
        </p:txBody>
      </p:sp>
      <p:sp>
        <p:nvSpPr>
          <p:cNvPr id="11" name="Rectangle 10">
            <a:extLst>
              <a:ext uri="{FF2B5EF4-FFF2-40B4-BE49-F238E27FC236}">
                <a16:creationId xmlns:a16="http://schemas.microsoft.com/office/drawing/2014/main" id="{96331AF7-CA79-44B7-9BC2-41CA583B8663}"/>
              </a:ext>
            </a:extLst>
          </p:cNvPr>
          <p:cNvSpPr>
            <a:spLocks noGrp="1"/>
          </p:cNvSpPr>
          <p:nvPr/>
        </p:nvSpPr>
        <p:spPr>
          <a:xfrm>
            <a:off x="495300" y="4400550"/>
            <a:ext cx="1428750" cy="228600"/>
          </a:xfrm>
          <a:prstGeom prst="rect">
            <a:avLst/>
          </a:prstGeom>
          <a:noFill/>
          <a:ln w="0">
            <a:noFill/>
            <a:prstDash val="solid"/>
          </a:ln>
        </p:spPr>
        <p:txBody>
          <a:bodyPr/>
          <a:lstStyle/>
          <a:p>
            <a:pPr>
              <a:defRPr sz="1200" b="0">
                <a:solidFill>
                  <a:srgbClr val="3A3A3A"/>
                </a:solidFill>
                <a:latin typeface="Noto Serif Medium"/>
                <a:ea typeface="Noto Serif Medium"/>
                <a:cs typeface="Noto Serif Medium"/>
              </a:defRPr>
            </a:pPr>
            <a:r>
              <a:rPr sz="1200" b="0">
                <a:solidFill>
                  <a:srgbClr val="3A3A3A"/>
                </a:solidFill>
                <a:latin typeface="Noto Serif Medium"/>
                <a:ea typeface="Noto Serif Medium"/>
                <a:cs typeface="Noto Serif Medium"/>
              </a:rPr>
              <a:t>Prochaine étape</a:t>
            </a:r>
          </a:p>
        </p:txBody>
      </p:sp>
      <p:sp>
        <p:nvSpPr>
          <p:cNvPr id="12" name="Rectangle 11">
            <a:extLst>
              <a:ext uri="{FF2B5EF4-FFF2-40B4-BE49-F238E27FC236}">
                <a16:creationId xmlns:a16="http://schemas.microsoft.com/office/drawing/2014/main" id="{11FD2941-161C-4F37-BCA1-277DEF2AEAEE}"/>
              </a:ext>
            </a:extLst>
          </p:cNvPr>
          <p:cNvSpPr>
            <a:spLocks noGrp="1"/>
          </p:cNvSpPr>
          <p:nvPr/>
        </p:nvSpPr>
        <p:spPr>
          <a:xfrm>
            <a:off x="2047875" y="4400550"/>
            <a:ext cx="5715000" cy="400050"/>
          </a:xfrm>
          <a:prstGeom prst="rect">
            <a:avLst/>
          </a:prstGeom>
          <a:noFill/>
          <a:ln w="0">
            <a:noFill/>
            <a:prstDash val="solid"/>
          </a:ln>
        </p:spPr>
        <p:txBody>
          <a:bodyPr wrap="square">
            <a:normAutofit/>
          </a:bodyPr>
          <a:lstStyle/>
          <a:p>
            <a:pPr>
              <a:defRPr sz="975" b="0">
                <a:solidFill>
                  <a:srgbClr val="4C4C4C"/>
                </a:solidFill>
                <a:latin typeface="Noto Serif"/>
                <a:ea typeface="Noto Serif"/>
                <a:cs typeface="Noto Serif"/>
              </a:defRPr>
            </a:pPr>
            <a:r>
              <a:rPr sz="975" b="0">
                <a:solidFill>
                  <a:srgbClr val="4C4C4C"/>
                </a:solidFill>
                <a:latin typeface="Noto Serif"/>
                <a:ea typeface="Noto Serif"/>
                <a:cs typeface="Noto Serif"/>
              </a:rPr>
              <a:t>Transformer le prototype en socle SaaS : pipeline OCR robuste, observabilité cloud, garde-fous sécurité et apprentissage continu des prévisions.</a:t>
            </a:r>
          </a:p>
        </p:txBody>
      </p:sp>
    </p:spTree>
    <p:extLst>
      <p:ext uri="{BB962C8B-B14F-4D97-AF65-F5344CB8AC3E}">
        <p14:creationId xmlns:p14="http://schemas.microsoft.com/office/powerpoint/2010/main" val="15962419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 coins arrondis 22">
            <a:extLst>
              <a:ext uri="{FF2B5EF4-FFF2-40B4-BE49-F238E27FC236}">
                <a16:creationId xmlns:a16="http://schemas.microsoft.com/office/drawing/2014/main" id="{C7C61C03-BE12-4C56-9FC5-36F7D7789A82}"/>
              </a:ext>
            </a:extLst>
          </p:cNvPr>
          <p:cNvSpPr>
            <a:spLocks noGrp="1"/>
          </p:cNvSpPr>
          <p:nvPr/>
        </p:nvSpPr>
        <p:spPr>
          <a:xfrm>
            <a:off x="495299" y="514349"/>
            <a:ext cx="1195137" cy="295275"/>
          </a:xfrm>
          <a:prstGeom prst="roundRect">
            <a:avLst>
              <a:gd name="adj" fmla="val 21429"/>
            </a:avLst>
          </a:prstGeom>
          <a:solidFill>
            <a:srgbClr val="E8E6E3"/>
          </a:solidFill>
          <a:ln w="0">
            <a:noFill/>
            <a:prstDash val="solid"/>
          </a:ln>
        </p:spPr>
        <p:txBody>
          <a:bodyPr/>
          <a:lstStyle/>
          <a:p>
            <a:endParaRPr lang="fr-FR"/>
          </a:p>
        </p:txBody>
      </p:sp>
      <p:sp>
        <p:nvSpPr>
          <p:cNvPr id="2" name="Rectangle 1">
            <a:extLst>
              <a:ext uri="{FF2B5EF4-FFF2-40B4-BE49-F238E27FC236}">
                <a16:creationId xmlns:a16="http://schemas.microsoft.com/office/drawing/2014/main" id="{2EA50597-2E8C-49B8-93FD-DB422DDA49D3}"/>
              </a:ext>
            </a:extLst>
          </p:cNvPr>
          <p:cNvSpPr>
            <a:spLocks noGrp="1"/>
          </p:cNvSpPr>
          <p:nvPr/>
        </p:nvSpPr>
        <p:spPr>
          <a:xfrm>
            <a:off x="581025" y="552450"/>
            <a:ext cx="933450" cy="152400"/>
          </a:xfrm>
          <a:prstGeom prst="rect">
            <a:avLst/>
          </a:prstGeom>
          <a:noFill/>
          <a:ln w="0">
            <a:noFill/>
            <a:prstDash val="solid"/>
          </a:ln>
        </p:spPr>
        <p:txBody>
          <a:bodyPr wrap="none"/>
          <a:lstStyle/>
          <a:p>
            <a:pPr>
              <a:defRPr sz="788" b="1">
                <a:solidFill>
                  <a:srgbClr val="9C9283"/>
                </a:solidFill>
                <a:latin typeface="Noto Serif"/>
                <a:ea typeface="Noto Serif"/>
                <a:cs typeface="Noto Serif"/>
              </a:defRPr>
            </a:pPr>
            <a:r>
              <a:rPr sz="788" b="1" dirty="0">
                <a:solidFill>
                  <a:srgbClr val="9C9283"/>
                </a:solidFill>
                <a:latin typeface="Noto Serif"/>
                <a:ea typeface="Noto Serif"/>
                <a:cs typeface="Noto Serif"/>
              </a:rPr>
              <a:t>ORGANISATION</a:t>
            </a:r>
          </a:p>
        </p:txBody>
      </p:sp>
      <p:sp>
        <p:nvSpPr>
          <p:cNvPr id="3" name="Rectangle 2">
            <a:extLst>
              <a:ext uri="{FF2B5EF4-FFF2-40B4-BE49-F238E27FC236}">
                <a16:creationId xmlns:a16="http://schemas.microsoft.com/office/drawing/2014/main" id="{7F95CBC2-C682-4037-8ADB-900573FF7599}"/>
              </a:ext>
            </a:extLst>
          </p:cNvPr>
          <p:cNvSpPr>
            <a:spLocks noGrp="1"/>
          </p:cNvSpPr>
          <p:nvPr/>
        </p:nvSpPr>
        <p:spPr>
          <a:xfrm>
            <a:off x="495300" y="876300"/>
            <a:ext cx="6858000" cy="476250"/>
          </a:xfrm>
          <a:prstGeom prst="rect">
            <a:avLst/>
          </a:prstGeom>
          <a:noFill/>
          <a:ln w="0">
            <a:noFill/>
            <a:prstDash val="solid"/>
          </a:ln>
        </p:spPr>
        <p:txBody>
          <a:bodyPr wrap="none"/>
          <a:lstStyle/>
          <a:p>
            <a:pPr>
              <a:defRPr sz="2550" b="0">
                <a:solidFill>
                  <a:srgbClr val="3A3A3A"/>
                </a:solidFill>
                <a:latin typeface="Noto Serif Medium"/>
                <a:ea typeface="Noto Serif Medium"/>
                <a:cs typeface="Noto Serif Medium"/>
              </a:defRPr>
            </a:pPr>
            <a:r>
              <a:rPr sz="2550" b="0">
                <a:solidFill>
                  <a:srgbClr val="3A3A3A"/>
                </a:solidFill>
                <a:latin typeface="Noto Serif Medium"/>
                <a:ea typeface="Noto Serif Medium"/>
                <a:cs typeface="Noto Serif Medium"/>
              </a:rPr>
              <a:t>Répartition des tâches</a:t>
            </a:r>
          </a:p>
        </p:txBody>
      </p:sp>
      <p:sp>
        <p:nvSpPr>
          <p:cNvPr id="4" name="Rectangle 3">
            <a:extLst>
              <a:ext uri="{FF2B5EF4-FFF2-40B4-BE49-F238E27FC236}">
                <a16:creationId xmlns:a16="http://schemas.microsoft.com/office/drawing/2014/main" id="{109A85D8-D587-46F0-96F2-97AEFEEE9D7C}"/>
              </a:ext>
            </a:extLst>
          </p:cNvPr>
          <p:cNvSpPr>
            <a:spLocks noGrp="1"/>
          </p:cNvSpPr>
          <p:nvPr/>
        </p:nvSpPr>
        <p:spPr>
          <a:xfrm>
            <a:off x="495300" y="1381125"/>
            <a:ext cx="7239000" cy="400050"/>
          </a:xfrm>
          <a:prstGeom prst="rect">
            <a:avLst/>
          </a:prstGeom>
          <a:noFill/>
          <a:ln w="0">
            <a:noFill/>
            <a:prstDash val="solid"/>
          </a:ln>
        </p:spPr>
        <p:txBody>
          <a:bodyPr wrap="square">
            <a:normAutofit/>
          </a:bodyPr>
          <a:lstStyle/>
          <a:p>
            <a:pPr>
              <a:defRPr sz="930" b="0">
                <a:solidFill>
                  <a:srgbClr val="4C4C4C"/>
                </a:solidFill>
                <a:latin typeface="Noto Serif"/>
                <a:ea typeface="Noto Serif"/>
                <a:cs typeface="Noto Serif"/>
              </a:defRPr>
            </a:pPr>
            <a:r>
              <a:rPr sz="930" b="0">
                <a:solidFill>
                  <a:srgbClr val="4C4C4C"/>
                </a:solidFill>
                <a:latin typeface="Noto Serif"/>
                <a:ea typeface="Noto Serif"/>
                <a:cs typeface="Noto Serif"/>
              </a:rPr>
              <a:t>Chaque contribution couvre une brique métier identifiable : prévision, automatisation documentaire, infrastructure cloud, dashboard et assistant conversationnel.</a:t>
            </a:r>
          </a:p>
        </p:txBody>
      </p:sp>
      <p:sp>
        <p:nvSpPr>
          <p:cNvPr id="5" name="Rectangle : coins arrondis 4">
            <a:extLst>
              <a:ext uri="{FF2B5EF4-FFF2-40B4-BE49-F238E27FC236}">
                <a16:creationId xmlns:a16="http://schemas.microsoft.com/office/drawing/2014/main" id="{18331128-2B38-465A-9CA8-0857F3CF9CD0}"/>
              </a:ext>
            </a:extLst>
          </p:cNvPr>
          <p:cNvSpPr>
            <a:spLocks noGrp="1"/>
          </p:cNvSpPr>
          <p:nvPr/>
        </p:nvSpPr>
        <p:spPr>
          <a:xfrm>
            <a:off x="495300" y="1924050"/>
            <a:ext cx="2514600" cy="2238375"/>
          </a:xfrm>
          <a:prstGeom prst="roundRect">
            <a:avLst>
              <a:gd name="adj" fmla="val 3404"/>
            </a:avLst>
          </a:prstGeom>
          <a:solidFill>
            <a:srgbClr val="F6F2EB"/>
          </a:solidFill>
          <a:ln w="9525">
            <a:solidFill>
              <a:srgbClr val="D8D1C7"/>
            </a:solidFill>
            <a:prstDash val="solid"/>
          </a:ln>
        </p:spPr>
        <p:txBody>
          <a:bodyPr/>
          <a:lstStyle/>
          <a:p>
            <a:endParaRPr lang="fr-FR"/>
          </a:p>
        </p:txBody>
      </p:sp>
      <p:sp>
        <p:nvSpPr>
          <p:cNvPr id="6" name="Ellipse 5">
            <a:extLst>
              <a:ext uri="{FF2B5EF4-FFF2-40B4-BE49-F238E27FC236}">
                <a16:creationId xmlns:a16="http://schemas.microsoft.com/office/drawing/2014/main" id="{38672052-6C20-48E5-B43A-664FCBAA39F0}"/>
              </a:ext>
            </a:extLst>
          </p:cNvPr>
          <p:cNvSpPr>
            <a:spLocks noGrp="1"/>
          </p:cNvSpPr>
          <p:nvPr/>
        </p:nvSpPr>
        <p:spPr>
          <a:xfrm>
            <a:off x="647700" y="2057400"/>
            <a:ext cx="285750" cy="285750"/>
          </a:xfrm>
          <a:prstGeom prst="ellipse">
            <a:avLst/>
          </a:prstGeom>
          <a:solidFill>
            <a:srgbClr val="F0ECE6"/>
          </a:solidFill>
          <a:ln w="0">
            <a:noFill/>
            <a:prstDash val="solid"/>
          </a:ln>
        </p:spPr>
        <p:txBody>
          <a:bodyPr/>
          <a:lstStyle/>
          <a:p>
            <a:endParaRPr lang="fr-FR"/>
          </a:p>
        </p:txBody>
      </p:sp>
      <p:sp>
        <p:nvSpPr>
          <p:cNvPr id="7" name="Rectangle 6">
            <a:extLst>
              <a:ext uri="{FF2B5EF4-FFF2-40B4-BE49-F238E27FC236}">
                <a16:creationId xmlns:a16="http://schemas.microsoft.com/office/drawing/2014/main" id="{1EF86E9F-78F2-4EED-A05A-ADED36A8D119}"/>
              </a:ext>
            </a:extLst>
          </p:cNvPr>
          <p:cNvSpPr>
            <a:spLocks noGrp="1"/>
          </p:cNvSpPr>
          <p:nvPr/>
        </p:nvSpPr>
        <p:spPr>
          <a:xfrm>
            <a:off x="647700" y="2105025"/>
            <a:ext cx="285750" cy="171450"/>
          </a:xfrm>
          <a:prstGeom prst="rect">
            <a:avLst/>
          </a:prstGeom>
          <a:noFill/>
          <a:ln w="0">
            <a:noFill/>
            <a:prstDash val="solid"/>
          </a:ln>
        </p:spPr>
        <p:txBody>
          <a:bodyPr wrap="none" anchor="ctr"/>
          <a:lstStyle/>
          <a:p>
            <a:pPr algn="ctr">
              <a:defRPr sz="975" b="0">
                <a:solidFill>
                  <a:srgbClr val="3A3A3A"/>
                </a:solidFill>
                <a:latin typeface="Noto Serif Medium"/>
                <a:ea typeface="Noto Serif Medium"/>
                <a:cs typeface="Noto Serif Medium"/>
              </a:defRPr>
            </a:pPr>
            <a:r>
              <a:rPr sz="975" b="0">
                <a:solidFill>
                  <a:srgbClr val="3A3A3A"/>
                </a:solidFill>
                <a:latin typeface="Noto Serif Medium"/>
                <a:ea typeface="Noto Serif Medium"/>
                <a:cs typeface="Noto Serif Medium"/>
              </a:rPr>
              <a:t>1</a:t>
            </a:r>
          </a:p>
        </p:txBody>
      </p:sp>
      <p:sp>
        <p:nvSpPr>
          <p:cNvPr id="8" name="Rectangle 7">
            <a:extLst>
              <a:ext uri="{FF2B5EF4-FFF2-40B4-BE49-F238E27FC236}">
                <a16:creationId xmlns:a16="http://schemas.microsoft.com/office/drawing/2014/main" id="{DEC7F236-481E-4C63-87E7-961161AEA46A}"/>
              </a:ext>
            </a:extLst>
          </p:cNvPr>
          <p:cNvSpPr>
            <a:spLocks noGrp="1"/>
          </p:cNvSpPr>
          <p:nvPr/>
        </p:nvSpPr>
        <p:spPr>
          <a:xfrm>
            <a:off x="1047750" y="2085975"/>
            <a:ext cx="1790700" cy="266700"/>
          </a:xfrm>
          <a:prstGeom prst="rect">
            <a:avLst/>
          </a:prstGeom>
          <a:noFill/>
          <a:ln w="0">
            <a:noFill/>
            <a:prstDash val="solid"/>
          </a:ln>
        </p:spPr>
        <p:txBody>
          <a:bodyPr wrap="square">
            <a:normAutofit fontScale="97696" lnSpcReduction="10000"/>
          </a:bodyPr>
          <a:lstStyle/>
          <a:p>
            <a:pPr>
              <a:defRPr sz="1275" b="0">
                <a:solidFill>
                  <a:srgbClr val="4C4C4C"/>
                </a:solidFill>
                <a:latin typeface="Noto Serif Medium"/>
                <a:ea typeface="Noto Serif Medium"/>
                <a:cs typeface="Noto Serif Medium"/>
              </a:defRPr>
            </a:pPr>
            <a:r>
              <a:rPr sz="1275" b="0">
                <a:solidFill>
                  <a:srgbClr val="4C4C4C"/>
                </a:solidFill>
                <a:latin typeface="Noto Serif Medium"/>
                <a:ea typeface="Noto Serif Medium"/>
                <a:cs typeface="Noto Serif Medium"/>
              </a:rPr>
              <a:t>Clyde</a:t>
            </a:r>
          </a:p>
        </p:txBody>
      </p:sp>
      <p:sp>
        <p:nvSpPr>
          <p:cNvPr id="9" name="Rectangle 8">
            <a:extLst>
              <a:ext uri="{FF2B5EF4-FFF2-40B4-BE49-F238E27FC236}">
                <a16:creationId xmlns:a16="http://schemas.microsoft.com/office/drawing/2014/main" id="{E9D8AD73-B206-481A-8B3D-F9EFEBC63B41}"/>
              </a:ext>
            </a:extLst>
          </p:cNvPr>
          <p:cNvSpPr>
            <a:spLocks noGrp="1"/>
          </p:cNvSpPr>
          <p:nvPr/>
        </p:nvSpPr>
        <p:spPr>
          <a:xfrm>
            <a:off x="685800" y="2476500"/>
            <a:ext cx="2133600" cy="1552575"/>
          </a:xfrm>
          <a:prstGeom prst="rect">
            <a:avLst/>
          </a:prstGeom>
          <a:noFill/>
          <a:ln w="0">
            <a:noFill/>
            <a:prstDash val="solid"/>
          </a:ln>
        </p:spPr>
        <p:txBody>
          <a:bodyPr wrap="square">
            <a:normAutofit/>
          </a:bodyPr>
          <a:lstStyle/>
          <a:p>
            <a:pPr>
              <a:defRPr sz="938" b="0">
                <a:solidFill>
                  <a:srgbClr val="4C4C4C"/>
                </a:solidFill>
                <a:latin typeface="Noto Serif"/>
                <a:ea typeface="Noto Serif"/>
                <a:cs typeface="Noto Serif"/>
              </a:defRPr>
            </a:pPr>
            <a:r>
              <a:rPr sz="938" b="0">
                <a:solidFill>
                  <a:srgbClr val="4C4C4C"/>
                </a:solidFill>
                <a:latin typeface="Noto Serif"/>
                <a:ea typeface="Noto Serif"/>
                <a:cs typeface="Noto Serif"/>
              </a:rPr>
              <a:t>Modèle Prophet</a:t>
            </a:r>
          </a:p>
          <a:p>
            <a:pPr>
              <a:defRPr sz="938" b="0">
                <a:solidFill>
                  <a:srgbClr val="4C4C4C"/>
                </a:solidFill>
                <a:latin typeface="Noto Serif"/>
                <a:ea typeface="Noto Serif"/>
                <a:cs typeface="Noto Serif"/>
              </a:defRPr>
            </a:pPr>
            <a:r>
              <a:rPr sz="938" b="0">
                <a:solidFill>
                  <a:srgbClr val="4C4C4C"/>
                </a:solidFill>
                <a:latin typeface="Noto Serif"/>
                <a:ea typeface="Noto Serif"/>
                <a:cs typeface="Noto Serif"/>
              </a:rPr>
              <a:t>- Préparation des données de CA</a:t>
            </a:r>
          </a:p>
          <a:p>
            <a:pPr>
              <a:defRPr sz="938" b="0">
                <a:solidFill>
                  <a:srgbClr val="4C4C4C"/>
                </a:solidFill>
                <a:latin typeface="Noto Serif"/>
                <a:ea typeface="Noto Serif"/>
                <a:cs typeface="Noto Serif"/>
              </a:defRPr>
            </a:pPr>
            <a:r>
              <a:rPr sz="938" b="0">
                <a:solidFill>
                  <a:srgbClr val="4C4C4C"/>
                </a:solidFill>
                <a:latin typeface="Noto Serif"/>
                <a:ea typeface="Noto Serif"/>
                <a:cs typeface="Noto Serif"/>
              </a:rPr>
              <a:t>- Entraînement et horizon de prévision</a:t>
            </a:r>
          </a:p>
          <a:p>
            <a:pPr>
              <a:defRPr sz="938" b="0">
                <a:solidFill>
                  <a:srgbClr val="4C4C4C"/>
                </a:solidFill>
                <a:latin typeface="Noto Serif"/>
                <a:ea typeface="Noto Serif"/>
                <a:cs typeface="Noto Serif"/>
              </a:defRPr>
            </a:pPr>
            <a:r>
              <a:rPr sz="938" b="0">
                <a:solidFill>
                  <a:srgbClr val="4C4C4C"/>
                </a:solidFill>
                <a:latin typeface="Noto Serif"/>
                <a:ea typeface="Noto Serif"/>
                <a:cs typeface="Noto Serif"/>
              </a:rPr>
              <a:t>- Export predictions.json pour le dashboard</a:t>
            </a:r>
          </a:p>
          <a:p>
            <a:pPr>
              <a:defRPr sz="938" b="0">
                <a:solidFill>
                  <a:srgbClr val="4C4C4C"/>
                </a:solidFill>
                <a:latin typeface="Noto Serif"/>
                <a:ea typeface="Noto Serif"/>
                <a:cs typeface="Noto Serif"/>
              </a:defRPr>
            </a:pPr>
            <a:r>
              <a:rPr sz="938" b="0">
                <a:solidFill>
                  <a:srgbClr val="4C4C4C"/>
                </a:solidFill>
                <a:latin typeface="Noto Serif"/>
                <a:ea typeface="Noto Serif"/>
                <a:cs typeface="Noto Serif"/>
              </a:rPr>
              <a:t>- Travail sur le pipeline SageMaker</a:t>
            </a:r>
          </a:p>
        </p:txBody>
      </p:sp>
      <p:sp>
        <p:nvSpPr>
          <p:cNvPr id="10" name="Rectangle : coins arrondis 9">
            <a:extLst>
              <a:ext uri="{FF2B5EF4-FFF2-40B4-BE49-F238E27FC236}">
                <a16:creationId xmlns:a16="http://schemas.microsoft.com/office/drawing/2014/main" id="{25124534-E5CB-4EBF-9675-624DDCDA2379}"/>
              </a:ext>
            </a:extLst>
          </p:cNvPr>
          <p:cNvSpPr>
            <a:spLocks noGrp="1"/>
          </p:cNvSpPr>
          <p:nvPr/>
        </p:nvSpPr>
        <p:spPr>
          <a:xfrm>
            <a:off x="3314700" y="1924050"/>
            <a:ext cx="2514600" cy="2238375"/>
          </a:xfrm>
          <a:prstGeom prst="roundRect">
            <a:avLst>
              <a:gd name="adj" fmla="val 3404"/>
            </a:avLst>
          </a:prstGeom>
          <a:solidFill>
            <a:srgbClr val="F6F2EB"/>
          </a:solidFill>
          <a:ln w="9525">
            <a:solidFill>
              <a:srgbClr val="D8D1C7"/>
            </a:solidFill>
            <a:prstDash val="solid"/>
          </a:ln>
        </p:spPr>
        <p:txBody>
          <a:bodyPr/>
          <a:lstStyle/>
          <a:p>
            <a:endParaRPr lang="fr-FR"/>
          </a:p>
        </p:txBody>
      </p:sp>
      <p:sp>
        <p:nvSpPr>
          <p:cNvPr id="11" name="Ellipse 10">
            <a:extLst>
              <a:ext uri="{FF2B5EF4-FFF2-40B4-BE49-F238E27FC236}">
                <a16:creationId xmlns:a16="http://schemas.microsoft.com/office/drawing/2014/main" id="{8B7C131B-E927-44F6-AC2F-A2242B672437}"/>
              </a:ext>
            </a:extLst>
          </p:cNvPr>
          <p:cNvSpPr>
            <a:spLocks noGrp="1"/>
          </p:cNvSpPr>
          <p:nvPr/>
        </p:nvSpPr>
        <p:spPr>
          <a:xfrm>
            <a:off x="3467100" y="2057400"/>
            <a:ext cx="285750" cy="285750"/>
          </a:xfrm>
          <a:prstGeom prst="ellipse">
            <a:avLst/>
          </a:prstGeom>
          <a:solidFill>
            <a:srgbClr val="F0ECE6"/>
          </a:solidFill>
          <a:ln w="0">
            <a:noFill/>
            <a:prstDash val="solid"/>
          </a:ln>
        </p:spPr>
        <p:txBody>
          <a:bodyPr/>
          <a:lstStyle/>
          <a:p>
            <a:endParaRPr lang="fr-FR"/>
          </a:p>
        </p:txBody>
      </p:sp>
      <p:sp>
        <p:nvSpPr>
          <p:cNvPr id="12" name="Rectangle 11">
            <a:extLst>
              <a:ext uri="{FF2B5EF4-FFF2-40B4-BE49-F238E27FC236}">
                <a16:creationId xmlns:a16="http://schemas.microsoft.com/office/drawing/2014/main" id="{5B0D0952-F558-46FB-94A5-78AE0E531FB5}"/>
              </a:ext>
            </a:extLst>
          </p:cNvPr>
          <p:cNvSpPr>
            <a:spLocks noGrp="1"/>
          </p:cNvSpPr>
          <p:nvPr/>
        </p:nvSpPr>
        <p:spPr>
          <a:xfrm>
            <a:off x="3467100" y="2105025"/>
            <a:ext cx="285750" cy="171450"/>
          </a:xfrm>
          <a:prstGeom prst="rect">
            <a:avLst/>
          </a:prstGeom>
          <a:noFill/>
          <a:ln w="0">
            <a:noFill/>
            <a:prstDash val="solid"/>
          </a:ln>
        </p:spPr>
        <p:txBody>
          <a:bodyPr wrap="none" anchor="ctr"/>
          <a:lstStyle/>
          <a:p>
            <a:pPr algn="ctr">
              <a:defRPr sz="975" b="0">
                <a:solidFill>
                  <a:srgbClr val="3A3A3A"/>
                </a:solidFill>
                <a:latin typeface="Noto Serif Medium"/>
                <a:ea typeface="Noto Serif Medium"/>
                <a:cs typeface="Noto Serif Medium"/>
              </a:defRPr>
            </a:pPr>
            <a:r>
              <a:rPr sz="975" b="0">
                <a:solidFill>
                  <a:srgbClr val="3A3A3A"/>
                </a:solidFill>
                <a:latin typeface="Noto Serif Medium"/>
                <a:ea typeface="Noto Serif Medium"/>
                <a:cs typeface="Noto Serif Medium"/>
              </a:rPr>
              <a:t>2</a:t>
            </a:r>
          </a:p>
        </p:txBody>
      </p:sp>
      <p:sp>
        <p:nvSpPr>
          <p:cNvPr id="13" name="Rectangle 12">
            <a:extLst>
              <a:ext uri="{FF2B5EF4-FFF2-40B4-BE49-F238E27FC236}">
                <a16:creationId xmlns:a16="http://schemas.microsoft.com/office/drawing/2014/main" id="{7C046D20-BB5D-4621-BFCF-6FDB25023D34}"/>
              </a:ext>
            </a:extLst>
          </p:cNvPr>
          <p:cNvSpPr>
            <a:spLocks noGrp="1"/>
          </p:cNvSpPr>
          <p:nvPr/>
        </p:nvSpPr>
        <p:spPr>
          <a:xfrm>
            <a:off x="3867150" y="2085975"/>
            <a:ext cx="1790700" cy="266700"/>
          </a:xfrm>
          <a:prstGeom prst="rect">
            <a:avLst/>
          </a:prstGeom>
          <a:noFill/>
          <a:ln w="0">
            <a:noFill/>
            <a:prstDash val="solid"/>
          </a:ln>
        </p:spPr>
        <p:txBody>
          <a:bodyPr wrap="square">
            <a:normAutofit fontScale="97696" lnSpcReduction="10000"/>
          </a:bodyPr>
          <a:lstStyle/>
          <a:p>
            <a:pPr>
              <a:defRPr sz="1275" b="0">
                <a:solidFill>
                  <a:srgbClr val="4C4C4C"/>
                </a:solidFill>
                <a:latin typeface="Noto Serif Medium"/>
                <a:ea typeface="Noto Serif Medium"/>
                <a:cs typeface="Noto Serif Medium"/>
              </a:defRPr>
            </a:pPr>
            <a:r>
              <a:rPr sz="1275" b="0">
                <a:solidFill>
                  <a:srgbClr val="4C4C4C"/>
                </a:solidFill>
                <a:latin typeface="Noto Serif Medium"/>
                <a:ea typeface="Noto Serif Medium"/>
                <a:cs typeface="Noto Serif Medium"/>
              </a:rPr>
              <a:t>Natchia</a:t>
            </a:r>
          </a:p>
        </p:txBody>
      </p:sp>
      <p:sp>
        <p:nvSpPr>
          <p:cNvPr id="14" name="Rectangle 13">
            <a:extLst>
              <a:ext uri="{FF2B5EF4-FFF2-40B4-BE49-F238E27FC236}">
                <a16:creationId xmlns:a16="http://schemas.microsoft.com/office/drawing/2014/main" id="{D60C2377-6230-4331-B534-653363CA68AC}"/>
              </a:ext>
            </a:extLst>
          </p:cNvPr>
          <p:cNvSpPr>
            <a:spLocks noGrp="1"/>
          </p:cNvSpPr>
          <p:nvPr/>
        </p:nvSpPr>
        <p:spPr>
          <a:xfrm>
            <a:off x="3505200" y="2476500"/>
            <a:ext cx="2133600" cy="1552575"/>
          </a:xfrm>
          <a:prstGeom prst="rect">
            <a:avLst/>
          </a:prstGeom>
          <a:noFill/>
          <a:ln w="0">
            <a:noFill/>
            <a:prstDash val="solid"/>
          </a:ln>
        </p:spPr>
        <p:txBody>
          <a:bodyPr wrap="square">
            <a:normAutofit/>
          </a:bodyPr>
          <a:lstStyle/>
          <a:p>
            <a:pPr>
              <a:defRPr sz="938" b="0">
                <a:solidFill>
                  <a:srgbClr val="4C4C4C"/>
                </a:solidFill>
                <a:latin typeface="Noto Serif"/>
                <a:ea typeface="Noto Serif"/>
                <a:cs typeface="Noto Serif"/>
              </a:defRPr>
            </a:pPr>
            <a:r>
              <a:rPr sz="938" b="0">
                <a:solidFill>
                  <a:srgbClr val="4C4C4C"/>
                </a:solidFill>
                <a:latin typeface="Noto Serif"/>
                <a:ea typeface="Noto Serif"/>
                <a:cs typeface="Noto Serif"/>
              </a:rPr>
              <a:t>OCR factures</a:t>
            </a:r>
          </a:p>
          <a:p>
            <a:pPr>
              <a:defRPr sz="938" b="0">
                <a:solidFill>
                  <a:srgbClr val="4C4C4C"/>
                </a:solidFill>
                <a:latin typeface="Noto Serif"/>
                <a:ea typeface="Noto Serif"/>
                <a:cs typeface="Noto Serif"/>
              </a:defRPr>
            </a:pPr>
            <a:r>
              <a:rPr sz="938" b="0">
                <a:solidFill>
                  <a:srgbClr val="4C4C4C"/>
                </a:solidFill>
                <a:latin typeface="Noto Serif"/>
                <a:ea typeface="Noto Serif"/>
                <a:cs typeface="Noto Serif"/>
              </a:rPr>
              <a:t>- Upload PDF fournisseurs vers S3</a:t>
            </a:r>
          </a:p>
          <a:p>
            <a:pPr>
              <a:defRPr sz="938" b="0">
                <a:solidFill>
                  <a:srgbClr val="4C4C4C"/>
                </a:solidFill>
                <a:latin typeface="Noto Serif"/>
                <a:ea typeface="Noto Serif"/>
                <a:cs typeface="Noto Serif"/>
              </a:defRPr>
            </a:pPr>
            <a:r>
              <a:rPr sz="938" b="0">
                <a:solidFill>
                  <a:srgbClr val="4C4C4C"/>
                </a:solidFill>
                <a:latin typeface="Noto Serif"/>
                <a:ea typeface="Noto Serif"/>
                <a:cs typeface="Noto Serif"/>
              </a:rPr>
              <a:t>- Extraction Textract des champs clés</a:t>
            </a:r>
          </a:p>
          <a:p>
            <a:pPr>
              <a:defRPr sz="938" b="0">
                <a:solidFill>
                  <a:srgbClr val="4C4C4C"/>
                </a:solidFill>
                <a:latin typeface="Noto Serif"/>
                <a:ea typeface="Noto Serif"/>
                <a:cs typeface="Noto Serif"/>
              </a:defRPr>
            </a:pPr>
            <a:r>
              <a:rPr sz="938" b="0">
                <a:solidFill>
                  <a:srgbClr val="4C4C4C"/>
                </a:solidFill>
                <a:latin typeface="Noto Serif"/>
                <a:ea typeface="Noto Serif"/>
                <a:cs typeface="Noto Serif"/>
              </a:rPr>
              <a:t>- Parsing des tableaux d'articles</a:t>
            </a:r>
          </a:p>
          <a:p>
            <a:pPr>
              <a:defRPr sz="938" b="0">
                <a:solidFill>
                  <a:srgbClr val="4C4C4C"/>
                </a:solidFill>
                <a:latin typeface="Noto Serif"/>
                <a:ea typeface="Noto Serif"/>
                <a:cs typeface="Noto Serif"/>
              </a:defRPr>
            </a:pPr>
            <a:r>
              <a:rPr sz="938" b="0">
                <a:solidFill>
                  <a:srgbClr val="4C4C4C"/>
                </a:solidFill>
                <a:latin typeface="Noto Serif"/>
                <a:ea typeface="Noto Serif"/>
                <a:cs typeface="Noto Serif"/>
              </a:rPr>
              <a:t>- Structuration invoices et invoice_items</a:t>
            </a:r>
          </a:p>
        </p:txBody>
      </p:sp>
      <p:sp>
        <p:nvSpPr>
          <p:cNvPr id="15" name="Rectangle : coins arrondis 14">
            <a:extLst>
              <a:ext uri="{FF2B5EF4-FFF2-40B4-BE49-F238E27FC236}">
                <a16:creationId xmlns:a16="http://schemas.microsoft.com/office/drawing/2014/main" id="{65DD76EC-C1F0-489D-9E13-0E8FD80DCD0D}"/>
              </a:ext>
            </a:extLst>
          </p:cNvPr>
          <p:cNvSpPr>
            <a:spLocks noGrp="1"/>
          </p:cNvSpPr>
          <p:nvPr/>
        </p:nvSpPr>
        <p:spPr>
          <a:xfrm>
            <a:off x="6134100" y="1924050"/>
            <a:ext cx="2514600" cy="2238375"/>
          </a:xfrm>
          <a:prstGeom prst="roundRect">
            <a:avLst>
              <a:gd name="adj" fmla="val 3404"/>
            </a:avLst>
          </a:prstGeom>
          <a:solidFill>
            <a:srgbClr val="F6F2EB"/>
          </a:solidFill>
          <a:ln w="9525">
            <a:solidFill>
              <a:srgbClr val="D8D1C7"/>
            </a:solidFill>
            <a:prstDash val="solid"/>
          </a:ln>
        </p:spPr>
        <p:txBody>
          <a:bodyPr/>
          <a:lstStyle/>
          <a:p>
            <a:endParaRPr lang="fr-FR"/>
          </a:p>
        </p:txBody>
      </p:sp>
      <p:sp>
        <p:nvSpPr>
          <p:cNvPr id="16" name="Ellipse 15">
            <a:extLst>
              <a:ext uri="{FF2B5EF4-FFF2-40B4-BE49-F238E27FC236}">
                <a16:creationId xmlns:a16="http://schemas.microsoft.com/office/drawing/2014/main" id="{E64C9348-5D27-49AF-809C-31C9F35EA483}"/>
              </a:ext>
            </a:extLst>
          </p:cNvPr>
          <p:cNvSpPr>
            <a:spLocks noGrp="1"/>
          </p:cNvSpPr>
          <p:nvPr/>
        </p:nvSpPr>
        <p:spPr>
          <a:xfrm>
            <a:off x="6286500" y="2057400"/>
            <a:ext cx="285750" cy="285750"/>
          </a:xfrm>
          <a:prstGeom prst="ellipse">
            <a:avLst/>
          </a:prstGeom>
          <a:solidFill>
            <a:srgbClr val="F0ECE6"/>
          </a:solidFill>
          <a:ln w="0">
            <a:noFill/>
            <a:prstDash val="solid"/>
          </a:ln>
        </p:spPr>
        <p:txBody>
          <a:bodyPr/>
          <a:lstStyle/>
          <a:p>
            <a:endParaRPr lang="fr-FR"/>
          </a:p>
        </p:txBody>
      </p:sp>
      <p:sp>
        <p:nvSpPr>
          <p:cNvPr id="17" name="Rectangle 16">
            <a:extLst>
              <a:ext uri="{FF2B5EF4-FFF2-40B4-BE49-F238E27FC236}">
                <a16:creationId xmlns:a16="http://schemas.microsoft.com/office/drawing/2014/main" id="{E08B4CD1-7F37-4CDD-BB87-46ADAABCE541}"/>
              </a:ext>
            </a:extLst>
          </p:cNvPr>
          <p:cNvSpPr>
            <a:spLocks noGrp="1"/>
          </p:cNvSpPr>
          <p:nvPr/>
        </p:nvSpPr>
        <p:spPr>
          <a:xfrm>
            <a:off x="6286500" y="2105025"/>
            <a:ext cx="285750" cy="171450"/>
          </a:xfrm>
          <a:prstGeom prst="rect">
            <a:avLst/>
          </a:prstGeom>
          <a:noFill/>
          <a:ln w="0">
            <a:noFill/>
            <a:prstDash val="solid"/>
          </a:ln>
        </p:spPr>
        <p:txBody>
          <a:bodyPr wrap="none" anchor="ctr"/>
          <a:lstStyle/>
          <a:p>
            <a:pPr algn="ctr">
              <a:defRPr sz="975" b="0">
                <a:solidFill>
                  <a:srgbClr val="3A3A3A"/>
                </a:solidFill>
                <a:latin typeface="Noto Serif Medium"/>
                <a:ea typeface="Noto Serif Medium"/>
                <a:cs typeface="Noto Serif Medium"/>
              </a:defRPr>
            </a:pPr>
            <a:r>
              <a:rPr sz="975" b="0">
                <a:solidFill>
                  <a:srgbClr val="3A3A3A"/>
                </a:solidFill>
                <a:latin typeface="Noto Serif Medium"/>
                <a:ea typeface="Noto Serif Medium"/>
                <a:cs typeface="Noto Serif Medium"/>
              </a:rPr>
              <a:t>3</a:t>
            </a:r>
          </a:p>
        </p:txBody>
      </p:sp>
      <p:sp>
        <p:nvSpPr>
          <p:cNvPr id="18" name="Rectangle 17">
            <a:extLst>
              <a:ext uri="{FF2B5EF4-FFF2-40B4-BE49-F238E27FC236}">
                <a16:creationId xmlns:a16="http://schemas.microsoft.com/office/drawing/2014/main" id="{AC310A7B-B1D0-4C63-87F5-C551DA95FC9F}"/>
              </a:ext>
            </a:extLst>
          </p:cNvPr>
          <p:cNvSpPr>
            <a:spLocks noGrp="1"/>
          </p:cNvSpPr>
          <p:nvPr/>
        </p:nvSpPr>
        <p:spPr>
          <a:xfrm>
            <a:off x="6686550" y="2085975"/>
            <a:ext cx="1790700" cy="266700"/>
          </a:xfrm>
          <a:prstGeom prst="rect">
            <a:avLst/>
          </a:prstGeom>
          <a:noFill/>
          <a:ln w="0">
            <a:noFill/>
            <a:prstDash val="solid"/>
          </a:ln>
        </p:spPr>
        <p:txBody>
          <a:bodyPr wrap="square">
            <a:normAutofit fontScale="97696" lnSpcReduction="10000"/>
          </a:bodyPr>
          <a:lstStyle/>
          <a:p>
            <a:pPr>
              <a:defRPr sz="1275" b="0">
                <a:solidFill>
                  <a:srgbClr val="4C4C4C"/>
                </a:solidFill>
                <a:latin typeface="Noto Serif Medium"/>
                <a:ea typeface="Noto Serif Medium"/>
                <a:cs typeface="Noto Serif Medium"/>
              </a:defRPr>
            </a:pPr>
            <a:r>
              <a:rPr sz="1275" b="0">
                <a:solidFill>
                  <a:srgbClr val="4C4C4C"/>
                </a:solidFill>
                <a:latin typeface="Noto Serif Medium"/>
                <a:ea typeface="Noto Serif Medium"/>
                <a:cs typeface="Noto Serif Medium"/>
              </a:rPr>
              <a:t>Nabil</a:t>
            </a:r>
          </a:p>
        </p:txBody>
      </p:sp>
      <p:sp>
        <p:nvSpPr>
          <p:cNvPr id="19" name="Rectangle 18">
            <a:extLst>
              <a:ext uri="{FF2B5EF4-FFF2-40B4-BE49-F238E27FC236}">
                <a16:creationId xmlns:a16="http://schemas.microsoft.com/office/drawing/2014/main" id="{F9017F98-4B51-4454-B833-9242321D41F5}"/>
              </a:ext>
            </a:extLst>
          </p:cNvPr>
          <p:cNvSpPr>
            <a:spLocks noGrp="1"/>
          </p:cNvSpPr>
          <p:nvPr/>
        </p:nvSpPr>
        <p:spPr>
          <a:xfrm>
            <a:off x="6324600" y="2476500"/>
            <a:ext cx="2133600" cy="1552575"/>
          </a:xfrm>
          <a:prstGeom prst="rect">
            <a:avLst/>
          </a:prstGeom>
          <a:noFill/>
          <a:ln w="0">
            <a:noFill/>
            <a:prstDash val="solid"/>
          </a:ln>
        </p:spPr>
        <p:txBody>
          <a:bodyPr wrap="square">
            <a:normAutofit/>
          </a:bodyPr>
          <a:lstStyle/>
          <a:p>
            <a:pPr>
              <a:defRPr sz="938" b="0">
                <a:solidFill>
                  <a:srgbClr val="4C4C4C"/>
                </a:solidFill>
                <a:latin typeface="Noto Serif"/>
                <a:ea typeface="Noto Serif"/>
                <a:cs typeface="Noto Serif"/>
              </a:defRPr>
            </a:pPr>
            <a:r>
              <a:rPr sz="938" b="0">
                <a:solidFill>
                  <a:srgbClr val="4C4C4C"/>
                </a:solidFill>
                <a:latin typeface="Noto Serif"/>
                <a:ea typeface="Noto Serif"/>
                <a:cs typeface="Noto Serif"/>
              </a:rPr>
              <a:t>Cloud, dashboard &amp; chatbot</a:t>
            </a:r>
          </a:p>
          <a:p>
            <a:pPr>
              <a:defRPr sz="938" b="0">
                <a:solidFill>
                  <a:srgbClr val="4C4C4C"/>
                </a:solidFill>
                <a:latin typeface="Noto Serif"/>
                <a:ea typeface="Noto Serif"/>
                <a:cs typeface="Noto Serif"/>
              </a:defRPr>
            </a:pPr>
            <a:r>
              <a:rPr sz="938" b="0">
                <a:solidFill>
                  <a:srgbClr val="4C4C4C"/>
                </a:solidFill>
                <a:latin typeface="Noto Serif"/>
                <a:ea typeface="Noto Serif"/>
                <a:cs typeface="Noto Serif"/>
              </a:rPr>
              <a:t>- Intégration AWS/RDS/S3 côté API</a:t>
            </a:r>
          </a:p>
          <a:p>
            <a:pPr>
              <a:defRPr sz="938" b="0">
                <a:solidFill>
                  <a:srgbClr val="4C4C4C"/>
                </a:solidFill>
                <a:latin typeface="Noto Serif"/>
                <a:ea typeface="Noto Serif"/>
                <a:cs typeface="Noto Serif"/>
              </a:defRPr>
            </a:pPr>
            <a:r>
              <a:rPr sz="938" b="0">
                <a:solidFill>
                  <a:srgbClr val="4C4C4C"/>
                </a:solidFill>
                <a:latin typeface="Noto Serif"/>
                <a:ea typeface="Noto Serif"/>
                <a:cs typeface="Noto Serif"/>
              </a:rPr>
              <a:t>- Dashboard KPI et modules financiers</a:t>
            </a:r>
          </a:p>
          <a:p>
            <a:pPr>
              <a:defRPr sz="938" b="0">
                <a:solidFill>
                  <a:srgbClr val="4C4C4C"/>
                </a:solidFill>
                <a:latin typeface="Noto Serif"/>
                <a:ea typeface="Noto Serif"/>
                <a:cs typeface="Noto Serif"/>
              </a:defRPr>
            </a:pPr>
            <a:r>
              <a:rPr sz="938" b="0">
                <a:solidFill>
                  <a:srgbClr val="4C4C4C"/>
                </a:solidFill>
                <a:latin typeface="Noto Serif"/>
                <a:ea typeface="Noto Serif"/>
                <a:cs typeface="Noto Serif"/>
              </a:rPr>
              <a:t>- Assistant RAG connecté aux données</a:t>
            </a:r>
          </a:p>
          <a:p>
            <a:pPr>
              <a:defRPr sz="938" b="0">
                <a:solidFill>
                  <a:srgbClr val="4C4C4C"/>
                </a:solidFill>
                <a:latin typeface="Noto Serif"/>
                <a:ea typeface="Noto Serif"/>
                <a:cs typeface="Noto Serif"/>
              </a:defRPr>
            </a:pPr>
            <a:r>
              <a:rPr sz="938" b="0">
                <a:solidFill>
                  <a:srgbClr val="4C4C4C"/>
                </a:solidFill>
                <a:latin typeface="Noto Serif"/>
                <a:ea typeface="Noto Serif"/>
                <a:cs typeface="Noto Serif"/>
              </a:rPr>
              <a:t>- Cohérence produit et parcours utilisateur</a:t>
            </a:r>
          </a:p>
        </p:txBody>
      </p:sp>
      <p:sp>
        <p:nvSpPr>
          <p:cNvPr id="20" name="Rectangle 19">
            <a:extLst>
              <a:ext uri="{FF2B5EF4-FFF2-40B4-BE49-F238E27FC236}">
                <a16:creationId xmlns:a16="http://schemas.microsoft.com/office/drawing/2014/main" id="{F59155FA-5430-4794-BFE3-7CC6FBA22BFE}"/>
              </a:ext>
            </a:extLst>
          </p:cNvPr>
          <p:cNvSpPr>
            <a:spLocks noGrp="1"/>
          </p:cNvSpPr>
          <p:nvPr/>
        </p:nvSpPr>
        <p:spPr>
          <a:xfrm>
            <a:off x="495300" y="4410075"/>
            <a:ext cx="6743700" cy="11430"/>
          </a:xfrm>
          <a:prstGeom prst="rect">
            <a:avLst/>
          </a:prstGeom>
          <a:solidFill>
            <a:srgbClr val="D8D1C7"/>
          </a:solidFill>
          <a:ln w="0">
            <a:noFill/>
            <a:prstDash val="solid"/>
          </a:ln>
        </p:spPr>
        <p:txBody>
          <a:bodyPr/>
          <a:lstStyle/>
          <a:p>
            <a:endParaRPr lang="fr-FR"/>
          </a:p>
        </p:txBody>
      </p:sp>
      <p:sp>
        <p:nvSpPr>
          <p:cNvPr id="21" name="Rectangle 20">
            <a:extLst>
              <a:ext uri="{FF2B5EF4-FFF2-40B4-BE49-F238E27FC236}">
                <a16:creationId xmlns:a16="http://schemas.microsoft.com/office/drawing/2014/main" id="{4FEC712A-ADF8-4BAC-92C3-57EFD661ADDF}"/>
              </a:ext>
            </a:extLst>
          </p:cNvPr>
          <p:cNvSpPr>
            <a:spLocks noGrp="1"/>
          </p:cNvSpPr>
          <p:nvPr/>
        </p:nvSpPr>
        <p:spPr>
          <a:xfrm>
            <a:off x="495300" y="4572000"/>
            <a:ext cx="1524000" cy="228600"/>
          </a:xfrm>
          <a:prstGeom prst="rect">
            <a:avLst/>
          </a:prstGeom>
          <a:noFill/>
          <a:ln w="0">
            <a:noFill/>
            <a:prstDash val="solid"/>
          </a:ln>
        </p:spPr>
        <p:txBody>
          <a:bodyPr/>
          <a:lstStyle/>
          <a:p>
            <a:pPr>
              <a:defRPr sz="1200" b="0">
                <a:solidFill>
                  <a:srgbClr val="3A3A3A"/>
                </a:solidFill>
                <a:latin typeface="Noto Serif Medium"/>
                <a:ea typeface="Noto Serif Medium"/>
                <a:cs typeface="Noto Serif Medium"/>
              </a:defRPr>
            </a:pPr>
            <a:r>
              <a:rPr sz="1200" b="0">
                <a:solidFill>
                  <a:srgbClr val="3A3A3A"/>
                </a:solidFill>
                <a:latin typeface="Noto Serif Medium"/>
                <a:ea typeface="Noto Serif Medium"/>
                <a:cs typeface="Noto Serif Medium"/>
              </a:rPr>
              <a:t>Logique d'équipe</a:t>
            </a:r>
          </a:p>
        </p:txBody>
      </p:sp>
      <p:sp>
        <p:nvSpPr>
          <p:cNvPr id="22" name="Rectangle 21">
            <a:extLst>
              <a:ext uri="{FF2B5EF4-FFF2-40B4-BE49-F238E27FC236}">
                <a16:creationId xmlns:a16="http://schemas.microsoft.com/office/drawing/2014/main" id="{938DC9E7-DCBF-4556-A7B8-A4BF6754B998}"/>
              </a:ext>
            </a:extLst>
          </p:cNvPr>
          <p:cNvSpPr>
            <a:spLocks noGrp="1"/>
          </p:cNvSpPr>
          <p:nvPr/>
        </p:nvSpPr>
        <p:spPr>
          <a:xfrm>
            <a:off x="2047875" y="4572000"/>
            <a:ext cx="5810250" cy="342900"/>
          </a:xfrm>
          <a:prstGeom prst="rect">
            <a:avLst/>
          </a:prstGeom>
          <a:noFill/>
          <a:ln w="0">
            <a:noFill/>
            <a:prstDash val="solid"/>
          </a:ln>
        </p:spPr>
        <p:txBody>
          <a:bodyPr wrap="square">
            <a:normAutofit fontScale="92115" lnSpcReduction="10000"/>
          </a:bodyPr>
          <a:lstStyle/>
          <a:p>
            <a:pPr>
              <a:defRPr sz="975" b="0">
                <a:solidFill>
                  <a:srgbClr val="4C4C4C"/>
                </a:solidFill>
                <a:latin typeface="Noto Serif"/>
                <a:ea typeface="Noto Serif"/>
                <a:cs typeface="Noto Serif"/>
              </a:defRPr>
            </a:pPr>
            <a:r>
              <a:rPr sz="975" b="0">
                <a:solidFill>
                  <a:srgbClr val="4C4C4C"/>
                </a:solidFill>
                <a:latin typeface="Noto Serif"/>
                <a:ea typeface="Noto Serif"/>
                <a:cs typeface="Noto Serif"/>
              </a:rPr>
              <a:t>Une séparation claire par domaine, avec un point de convergence : alimenter un dashboard unique qui donne au restaurateur une lecture fiable de son activité.</a:t>
            </a:r>
          </a:p>
        </p:txBody>
      </p:sp>
    </p:spTree>
    <p:extLst>
      <p:ext uri="{BB962C8B-B14F-4D97-AF65-F5344CB8AC3E}">
        <p14:creationId xmlns:p14="http://schemas.microsoft.com/office/powerpoint/2010/main" val="15962419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C62DA-5520-840A-14A4-EB21D5CDB949}"/>
            </a:ext>
          </a:extLst>
        </p:cNvPr>
        <p:cNvGrpSpPr/>
        <p:nvPr/>
      </p:nvGrpSpPr>
      <p:grpSpPr>
        <a:xfrm>
          <a:off x="0" y="0"/>
          <a:ext cx="0" cy="0"/>
          <a:chOff x="0" y="0"/>
          <a:chExt cx="0" cy="0"/>
        </a:xfrm>
      </p:grpSpPr>
      <p:pic>
        <p:nvPicPr>
          <p:cNvPr id="26" name="Image 25">
            <a:extLst>
              <a:ext uri="{FF2B5EF4-FFF2-40B4-BE49-F238E27FC236}">
                <a16:creationId xmlns:a16="http://schemas.microsoft.com/office/drawing/2014/main" id="{C109B298-2F8E-197A-FE96-E3D31C71667F}"/>
              </a:ext>
            </a:extLst>
          </p:cNvPr>
          <p:cNvPicPr>
            <a:picLocks noChangeAspect="1"/>
          </p:cNvPicPr>
          <p:nvPr/>
        </p:nvPicPr>
        <p:blipFill>
          <a:blip r:embed="rId3"/>
          <a:stretch>
            <a:fillRect/>
          </a:stretch>
        </p:blipFill>
        <p:spPr>
          <a:xfrm>
            <a:off x="572679" y="372223"/>
            <a:ext cx="5743280" cy="2575511"/>
          </a:xfrm>
          <a:prstGeom prst="rect">
            <a:avLst/>
          </a:prstGeom>
        </p:spPr>
      </p:pic>
      <p:pic>
        <p:nvPicPr>
          <p:cNvPr id="27" name="Image 26">
            <a:extLst>
              <a:ext uri="{FF2B5EF4-FFF2-40B4-BE49-F238E27FC236}">
                <a16:creationId xmlns:a16="http://schemas.microsoft.com/office/drawing/2014/main" id="{E72DB61F-BB09-9E51-526B-BCC5C82852D4}"/>
              </a:ext>
            </a:extLst>
          </p:cNvPr>
          <p:cNvPicPr>
            <a:picLocks noChangeAspect="1"/>
          </p:cNvPicPr>
          <p:nvPr/>
        </p:nvPicPr>
        <p:blipFill>
          <a:blip r:embed="rId4"/>
          <a:stretch>
            <a:fillRect/>
          </a:stretch>
        </p:blipFill>
        <p:spPr>
          <a:xfrm>
            <a:off x="572679" y="2947734"/>
            <a:ext cx="7308129" cy="1735421"/>
          </a:xfrm>
          <a:prstGeom prst="rect">
            <a:avLst/>
          </a:prstGeom>
        </p:spPr>
      </p:pic>
    </p:spTree>
    <p:extLst>
      <p:ext uri="{BB962C8B-B14F-4D97-AF65-F5344CB8AC3E}">
        <p14:creationId xmlns:p14="http://schemas.microsoft.com/office/powerpoint/2010/main" val="14645951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F84E5-D0DA-4A39-F7BC-B2A77F130E1D}"/>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5839886E-EC1E-9FBA-564A-C2F247C430EB}"/>
              </a:ext>
            </a:extLst>
          </p:cNvPr>
          <p:cNvPicPr>
            <a:picLocks noChangeAspect="1"/>
          </p:cNvPicPr>
          <p:nvPr/>
        </p:nvPicPr>
        <p:blipFill>
          <a:blip r:embed="rId3"/>
          <a:stretch>
            <a:fillRect/>
          </a:stretch>
        </p:blipFill>
        <p:spPr>
          <a:xfrm>
            <a:off x="639446" y="397902"/>
            <a:ext cx="5261733" cy="4347695"/>
          </a:xfrm>
          <a:prstGeom prst="rect">
            <a:avLst/>
          </a:prstGeom>
        </p:spPr>
      </p:pic>
    </p:spTree>
    <p:extLst>
      <p:ext uri="{BB962C8B-B14F-4D97-AF65-F5344CB8AC3E}">
        <p14:creationId xmlns:p14="http://schemas.microsoft.com/office/powerpoint/2010/main" val="2334113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37CE8-992F-319D-7A0E-7BD2659C024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636F5A3-80F0-AFFF-51A8-8DFD111FA1EA}"/>
              </a:ext>
            </a:extLst>
          </p:cNvPr>
          <p:cNvSpPr>
            <a:spLocks noGrp="1"/>
          </p:cNvSpPr>
          <p:nvPr/>
        </p:nvSpPr>
        <p:spPr>
          <a:xfrm>
            <a:off x="2571304" y="2350219"/>
            <a:ext cx="4001319" cy="442987"/>
          </a:xfrm>
          <a:prstGeom prst="rect">
            <a:avLst/>
          </a:prstGeom>
          <a:noFill/>
        </p:spPr>
        <p:txBody>
          <a:bodyPr wrap="none" lIns="0" tIns="0" rIns="0" bIns="0" anchor="t"/>
          <a:lstStyle/>
          <a:p>
            <a:pPr marL="0" indent="0" algn="ctr">
              <a:lnSpc>
                <a:spcPct val="104000"/>
              </a:lnSpc>
              <a:buNone/>
            </a:pPr>
            <a:r>
              <a:rPr sz="2750" dirty="0">
                <a:solidFill>
                  <a:srgbClr val="3A3A3A"/>
                </a:solidFill>
                <a:latin typeface="Noto Serif Medium"/>
                <a:ea typeface="Noto Serif Medium"/>
                <a:cs typeface="Noto Serif Medium"/>
              </a:rPr>
              <a:t>A</a:t>
            </a:r>
            <a:r>
              <a:rPr lang="fr-FR" sz="2750" dirty="0" err="1">
                <a:solidFill>
                  <a:srgbClr val="3A3A3A"/>
                </a:solidFill>
                <a:latin typeface="Noto Serif Medium"/>
                <a:ea typeface="Noto Serif Medium"/>
                <a:cs typeface="Noto Serif Medium"/>
              </a:rPr>
              <a:t>nnexes</a:t>
            </a:r>
            <a:endParaRPr sz="2750" dirty="0">
              <a:solidFill>
                <a:srgbClr val="3A3A3A"/>
              </a:solidFill>
              <a:latin typeface="Noto Serif Medium"/>
              <a:ea typeface="Noto Serif Medium"/>
              <a:cs typeface="Noto Serif Medium"/>
            </a:endParaRPr>
          </a:p>
        </p:txBody>
      </p:sp>
    </p:spTree>
    <p:extLst>
      <p:ext uri="{BB962C8B-B14F-4D97-AF65-F5344CB8AC3E}">
        <p14:creationId xmlns:p14="http://schemas.microsoft.com/office/powerpoint/2010/main" val="39888756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486DB7F-C25D-4CF6-B89F-7EE55F0AF2BD}"/>
              </a:ext>
            </a:extLst>
          </p:cNvPr>
          <p:cNvSpPr>
            <a:spLocks noGrp="1"/>
          </p:cNvSpPr>
          <p:nvPr/>
        </p:nvSpPr>
        <p:spPr>
          <a:xfrm>
            <a:off x="1667991" y="444996"/>
            <a:ext cx="3041600" cy="263054"/>
          </a:xfrm>
          <a:prstGeom prst="rect">
            <a:avLst/>
          </a:prstGeom>
          <a:noFill/>
        </p:spPr>
        <p:txBody>
          <a:bodyPr wrap="none" lIns="0" tIns="0" rIns="0" bIns="0" anchor="t"/>
          <a:lstStyle/>
          <a:p>
            <a:pPr marL="0" indent="0" algn="l">
              <a:lnSpc>
                <a:spcPct val="104000"/>
              </a:lnSpc>
              <a:buNone/>
            </a:pPr>
            <a:r>
              <a:rPr sz="1650">
                <a:solidFill>
                  <a:srgbClr val="3A3A3A"/>
                </a:solidFill>
                <a:latin typeface="Noto Serif Medium"/>
                <a:ea typeface="Noto Serif Medium"/>
                <a:cs typeface="Noto Serif Medium"/>
              </a:rPr>
              <a:t>Amazon RDS PostgreSQL </a:t>
            </a:r>
          </a:p>
        </p:txBody>
      </p:sp>
      <p:sp>
        <p:nvSpPr>
          <p:cNvPr id="3" name="Text 1">
            <a:extLst>
              <a:ext uri="{FF2B5EF4-FFF2-40B4-BE49-F238E27FC236}">
                <a16:creationId xmlns:a16="http://schemas.microsoft.com/office/drawing/2014/main" id="{A212800C-21D9-4A19-99AB-2EAB56CF0EE8}"/>
              </a:ext>
            </a:extLst>
          </p:cNvPr>
          <p:cNvSpPr>
            <a:spLocks noGrp="1"/>
          </p:cNvSpPr>
          <p:nvPr/>
        </p:nvSpPr>
        <p:spPr>
          <a:xfrm>
            <a:off x="1667991" y="807988"/>
            <a:ext cx="5808018" cy="321915"/>
          </a:xfrm>
          <a:prstGeom prst="rect">
            <a:avLst/>
          </a:prstGeom>
          <a:noFill/>
        </p:spPr>
        <p:txBody>
          <a:bodyPr wrap="square" lIns="0" tIns="0" rIns="0" bIns="0" anchor="t">
            <a:normAutofit/>
          </a:bodyPr>
          <a:lstStyle/>
          <a:p>
            <a:pPr marL="0" indent="0" algn="l">
              <a:lnSpc>
                <a:spcPct val="106000"/>
              </a:lnSpc>
              <a:buNone/>
            </a:pPr>
            <a:r>
              <a:rPr sz="650">
                <a:solidFill>
                  <a:srgbClr val="4C4C4C"/>
                </a:solidFill>
                <a:latin typeface="Noto Serif"/>
                <a:ea typeface="Noto Serif"/>
                <a:cs typeface="Noto Serif"/>
              </a:rPr>
              <a:t>En production, RestoLens migre vers Amazon RDS PostgreSQL Multi-AZ. Cette configuration garantit la haute disponibilité (basculement automatique), les sauvegardes automatiques et la conformité sécurité nécessaire pour des données financières. Les cinq tables relationnelles constituent la source de vérité unique de toute l'application : daily_revenues, expenses, invoices, invoice_items, predictions.</a:t>
            </a:r>
          </a:p>
        </p:txBody>
      </p:sp>
      <p:pic>
        <p:nvPicPr>
          <p:cNvPr id="9" name="Image 0"/>
          <p:cNvPicPr>
            <a:picLocks noChangeAspect="1"/>
          </p:cNvPicPr>
          <p:nvPr/>
        </p:nvPicPr>
        <p:blipFill>
          <a:blip r:embed="rId3"/>
          <a:stretch>
            <a:fillRect/>
          </a:stretch>
        </p:blipFill>
        <p:spPr>
          <a:xfrm>
            <a:off x="1667991" y="1186086"/>
            <a:ext cx="5808018" cy="3241625"/>
          </a:xfrm>
          <a:prstGeom prst="rect">
            <a:avLst/>
          </a:prstGeom>
        </p:spPr>
      </p:pic>
      <p:sp>
        <p:nvSpPr>
          <p:cNvPr id="5" name="Text 2">
            <a:extLst>
              <a:ext uri="{FF2B5EF4-FFF2-40B4-BE49-F238E27FC236}">
                <a16:creationId xmlns:a16="http://schemas.microsoft.com/office/drawing/2014/main" id="{DB26A0DF-7305-4D89-90B6-A74692A48968}"/>
              </a:ext>
            </a:extLst>
          </p:cNvPr>
          <p:cNvSpPr>
            <a:spLocks noGrp="1"/>
          </p:cNvSpPr>
          <p:nvPr/>
        </p:nvSpPr>
        <p:spPr>
          <a:xfrm>
            <a:off x="1667991" y="4483894"/>
            <a:ext cx="5808018" cy="214610"/>
          </a:xfrm>
          <a:prstGeom prst="rect">
            <a:avLst/>
          </a:prstGeom>
          <a:noFill/>
        </p:spPr>
        <p:txBody>
          <a:bodyPr wrap="square" lIns="0" tIns="0" rIns="0" bIns="0" anchor="t">
            <a:normAutofit/>
          </a:bodyPr>
          <a:lstStyle/>
          <a:p>
            <a:pPr marL="0" indent="0" algn="l">
              <a:lnSpc>
                <a:spcPct val="106000"/>
              </a:lnSpc>
              <a:buNone/>
            </a:pPr>
            <a:r>
              <a:rPr sz="650">
                <a:solidFill>
                  <a:srgbClr val="4C4C4C"/>
                </a:solidFill>
                <a:latin typeface="Noto Serif"/>
                <a:ea typeface="Noto Serif"/>
                <a:cs typeface="Noto Serif"/>
              </a:rPr>
              <a:t>Cet infographic illustre l'organisation des données clés de RestoLens au sein de PostgreSQL, détaillant les cinq tables principales et leurs relations pour assurer une source de vérité unique et structurée.</a:t>
            </a:r>
          </a:p>
        </p:txBody>
      </p:sp>
    </p:spTree>
    <p:extLst>
      <p:ext uri="{BB962C8B-B14F-4D97-AF65-F5344CB8AC3E}">
        <p14:creationId xmlns:p14="http://schemas.microsoft.com/office/powerpoint/2010/main" val="9153736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 coins arrondis 27">
            <a:extLst>
              <a:ext uri="{FF2B5EF4-FFF2-40B4-BE49-F238E27FC236}">
                <a16:creationId xmlns:a16="http://schemas.microsoft.com/office/drawing/2014/main" id="{2C3D9CAE-CE10-49E6-98A4-67A439E752CA}"/>
              </a:ext>
            </a:extLst>
          </p:cNvPr>
          <p:cNvSpPr>
            <a:spLocks noGrp="1"/>
          </p:cNvSpPr>
          <p:nvPr/>
        </p:nvSpPr>
        <p:spPr>
          <a:xfrm>
            <a:off x="495300" y="514350"/>
            <a:ext cx="1257300" cy="266700"/>
          </a:xfrm>
          <a:prstGeom prst="roundRect">
            <a:avLst>
              <a:gd name="adj" fmla="val 21429"/>
            </a:avLst>
          </a:prstGeom>
          <a:solidFill>
            <a:srgbClr val="E8E6E3"/>
          </a:solidFill>
          <a:ln w="0">
            <a:noFill/>
            <a:prstDash val="solid"/>
          </a:ln>
        </p:spPr>
        <p:txBody>
          <a:bodyPr/>
          <a:lstStyle/>
          <a:p>
            <a:endParaRPr lang="fr-FR"/>
          </a:p>
        </p:txBody>
      </p:sp>
      <p:sp>
        <p:nvSpPr>
          <p:cNvPr id="2" name="Rectangle 1">
            <a:extLst>
              <a:ext uri="{FF2B5EF4-FFF2-40B4-BE49-F238E27FC236}">
                <a16:creationId xmlns:a16="http://schemas.microsoft.com/office/drawing/2014/main" id="{E3C3C83F-6A2A-467B-92F2-A9974781C408}"/>
              </a:ext>
            </a:extLst>
          </p:cNvPr>
          <p:cNvSpPr>
            <a:spLocks noGrp="1"/>
          </p:cNvSpPr>
          <p:nvPr/>
        </p:nvSpPr>
        <p:spPr>
          <a:xfrm>
            <a:off x="619125" y="581025"/>
            <a:ext cx="1047750" cy="152400"/>
          </a:xfrm>
          <a:prstGeom prst="rect">
            <a:avLst/>
          </a:prstGeom>
          <a:noFill/>
          <a:ln w="0">
            <a:noFill/>
            <a:prstDash val="solid"/>
          </a:ln>
        </p:spPr>
        <p:txBody>
          <a:bodyPr wrap="none"/>
          <a:lstStyle/>
          <a:p>
            <a:pPr>
              <a:defRPr sz="788" b="1">
                <a:solidFill>
                  <a:srgbClr val="9C9283"/>
                </a:solidFill>
                <a:latin typeface="Noto Serif"/>
                <a:ea typeface="Noto Serif"/>
                <a:cs typeface="Noto Serif"/>
              </a:defRPr>
            </a:pPr>
            <a:r>
              <a:rPr sz="788" b="1">
                <a:solidFill>
                  <a:srgbClr val="9C9283"/>
                </a:solidFill>
                <a:latin typeface="Noto Serif"/>
                <a:ea typeface="Noto Serif"/>
                <a:cs typeface="Noto Serif"/>
              </a:rPr>
              <a:t>BUSINESS PLAN</a:t>
            </a:r>
          </a:p>
        </p:txBody>
      </p:sp>
      <p:sp>
        <p:nvSpPr>
          <p:cNvPr id="3" name="Rectangle 2">
            <a:extLst>
              <a:ext uri="{FF2B5EF4-FFF2-40B4-BE49-F238E27FC236}">
                <a16:creationId xmlns:a16="http://schemas.microsoft.com/office/drawing/2014/main" id="{BA1A9F89-45DC-40A5-AB8C-16C9FE0DB913}"/>
              </a:ext>
            </a:extLst>
          </p:cNvPr>
          <p:cNvSpPr>
            <a:spLocks noGrp="1"/>
          </p:cNvSpPr>
          <p:nvPr/>
        </p:nvSpPr>
        <p:spPr>
          <a:xfrm>
            <a:off x="495300" y="876300"/>
            <a:ext cx="6858000" cy="476250"/>
          </a:xfrm>
          <a:prstGeom prst="rect">
            <a:avLst/>
          </a:prstGeom>
          <a:noFill/>
          <a:ln w="0">
            <a:noFill/>
            <a:prstDash val="solid"/>
          </a:ln>
        </p:spPr>
        <p:txBody>
          <a:bodyPr wrap="none"/>
          <a:lstStyle/>
          <a:p>
            <a:pPr>
              <a:defRPr sz="2550" b="0">
                <a:solidFill>
                  <a:srgbClr val="3A3A3A"/>
                </a:solidFill>
                <a:latin typeface="Noto Serif Medium"/>
                <a:ea typeface="Noto Serif Medium"/>
                <a:cs typeface="Noto Serif Medium"/>
              </a:defRPr>
            </a:pPr>
            <a:r>
              <a:rPr sz="2550" b="0">
                <a:solidFill>
                  <a:srgbClr val="3A3A3A"/>
                </a:solidFill>
                <a:latin typeface="Noto Serif Medium"/>
                <a:ea typeface="Noto Serif Medium"/>
                <a:cs typeface="Noto Serif Medium"/>
              </a:rPr>
              <a:t>Utilisation d'AWS dans RestoLens</a:t>
            </a:r>
          </a:p>
        </p:txBody>
      </p:sp>
      <p:sp>
        <p:nvSpPr>
          <p:cNvPr id="4" name="Rectangle 3">
            <a:extLst>
              <a:ext uri="{FF2B5EF4-FFF2-40B4-BE49-F238E27FC236}">
                <a16:creationId xmlns:a16="http://schemas.microsoft.com/office/drawing/2014/main" id="{C67926D2-63AF-48AC-AC4B-4E499B715DA6}"/>
              </a:ext>
            </a:extLst>
          </p:cNvPr>
          <p:cNvSpPr>
            <a:spLocks noGrp="1"/>
          </p:cNvSpPr>
          <p:nvPr/>
        </p:nvSpPr>
        <p:spPr>
          <a:xfrm>
            <a:off x="495300" y="1381125"/>
            <a:ext cx="7239000" cy="400050"/>
          </a:xfrm>
          <a:prstGeom prst="rect">
            <a:avLst/>
          </a:prstGeom>
          <a:noFill/>
          <a:ln w="0">
            <a:noFill/>
            <a:prstDash val="solid"/>
          </a:ln>
        </p:spPr>
        <p:txBody>
          <a:bodyPr wrap="square">
            <a:normAutofit/>
          </a:bodyPr>
          <a:lstStyle/>
          <a:p>
            <a:pPr>
              <a:defRPr sz="930" b="0">
                <a:solidFill>
                  <a:srgbClr val="4C4C4C"/>
                </a:solidFill>
                <a:latin typeface="Noto Serif"/>
                <a:ea typeface="Noto Serif"/>
                <a:cs typeface="Noto Serif"/>
              </a:defRPr>
            </a:pPr>
            <a:r>
              <a:rPr sz="930" b="0">
                <a:solidFill>
                  <a:srgbClr val="4C4C4C"/>
                </a:solidFill>
                <a:latin typeface="Noto Serif"/>
                <a:ea typeface="Noto Serif"/>
                <a:cs typeface="Noto Serif"/>
              </a:rPr>
              <a:t>L'infrastructure cloud soutient les trois promesses produit : automatiser les factures, fiabiliser la donnée financière et produire des prévisions exploitables pour le restaurateur.</a:t>
            </a:r>
          </a:p>
        </p:txBody>
      </p:sp>
      <p:sp>
        <p:nvSpPr>
          <p:cNvPr id="5" name="Rectangle : coins arrondis 4">
            <a:extLst>
              <a:ext uri="{FF2B5EF4-FFF2-40B4-BE49-F238E27FC236}">
                <a16:creationId xmlns:a16="http://schemas.microsoft.com/office/drawing/2014/main" id="{0ED642B0-E89A-43F8-B3FC-EBA1FCEB2CE9}"/>
              </a:ext>
            </a:extLst>
          </p:cNvPr>
          <p:cNvSpPr>
            <a:spLocks noGrp="1"/>
          </p:cNvSpPr>
          <p:nvPr/>
        </p:nvSpPr>
        <p:spPr>
          <a:xfrm>
            <a:off x="495300" y="1933575"/>
            <a:ext cx="1809750" cy="2000250"/>
          </a:xfrm>
          <a:prstGeom prst="roundRect">
            <a:avLst>
              <a:gd name="adj" fmla="val 4211"/>
            </a:avLst>
          </a:prstGeom>
          <a:solidFill>
            <a:srgbClr val="F6F2EB"/>
          </a:solidFill>
          <a:ln w="9525">
            <a:solidFill>
              <a:srgbClr val="D8D1C7"/>
            </a:solidFill>
            <a:prstDash val="solid"/>
          </a:ln>
        </p:spPr>
        <p:txBody>
          <a:bodyPr/>
          <a:lstStyle/>
          <a:p>
            <a:endParaRPr lang="fr-FR"/>
          </a:p>
        </p:txBody>
      </p:sp>
      <p:sp>
        <p:nvSpPr>
          <p:cNvPr id="6" name="Ellipse 5">
            <a:extLst>
              <a:ext uri="{FF2B5EF4-FFF2-40B4-BE49-F238E27FC236}">
                <a16:creationId xmlns:a16="http://schemas.microsoft.com/office/drawing/2014/main" id="{F716CC1C-F639-48DC-A4CD-C98300991C6B}"/>
              </a:ext>
            </a:extLst>
          </p:cNvPr>
          <p:cNvSpPr>
            <a:spLocks noGrp="1"/>
          </p:cNvSpPr>
          <p:nvPr/>
        </p:nvSpPr>
        <p:spPr>
          <a:xfrm>
            <a:off x="647700" y="2066925"/>
            <a:ext cx="285750" cy="285750"/>
          </a:xfrm>
          <a:prstGeom prst="ellipse">
            <a:avLst/>
          </a:prstGeom>
          <a:solidFill>
            <a:srgbClr val="F0ECE6"/>
          </a:solidFill>
          <a:ln w="0">
            <a:noFill/>
            <a:prstDash val="solid"/>
          </a:ln>
        </p:spPr>
        <p:txBody>
          <a:bodyPr/>
          <a:lstStyle/>
          <a:p>
            <a:endParaRPr lang="fr-FR"/>
          </a:p>
        </p:txBody>
      </p:sp>
      <p:sp>
        <p:nvSpPr>
          <p:cNvPr id="7" name="Rectangle 6">
            <a:extLst>
              <a:ext uri="{FF2B5EF4-FFF2-40B4-BE49-F238E27FC236}">
                <a16:creationId xmlns:a16="http://schemas.microsoft.com/office/drawing/2014/main" id="{27BBA23F-120A-436B-A962-311773616B23}"/>
              </a:ext>
            </a:extLst>
          </p:cNvPr>
          <p:cNvSpPr>
            <a:spLocks noGrp="1"/>
          </p:cNvSpPr>
          <p:nvPr/>
        </p:nvSpPr>
        <p:spPr>
          <a:xfrm>
            <a:off x="647700" y="2114550"/>
            <a:ext cx="285750" cy="171450"/>
          </a:xfrm>
          <a:prstGeom prst="rect">
            <a:avLst/>
          </a:prstGeom>
          <a:noFill/>
          <a:ln w="0">
            <a:noFill/>
            <a:prstDash val="solid"/>
          </a:ln>
        </p:spPr>
        <p:txBody>
          <a:bodyPr wrap="none" anchor="ctr"/>
          <a:lstStyle/>
          <a:p>
            <a:pPr algn="ctr">
              <a:defRPr sz="975" b="0">
                <a:solidFill>
                  <a:srgbClr val="3A3A3A"/>
                </a:solidFill>
                <a:latin typeface="Noto Serif Medium"/>
                <a:ea typeface="Noto Serif Medium"/>
                <a:cs typeface="Noto Serif Medium"/>
              </a:defRPr>
            </a:pPr>
            <a:r>
              <a:rPr sz="975" b="0">
                <a:solidFill>
                  <a:srgbClr val="3A3A3A"/>
                </a:solidFill>
                <a:latin typeface="Noto Serif Medium"/>
                <a:ea typeface="Noto Serif Medium"/>
                <a:cs typeface="Noto Serif Medium"/>
              </a:rPr>
              <a:t>1</a:t>
            </a:r>
          </a:p>
        </p:txBody>
      </p:sp>
      <p:sp>
        <p:nvSpPr>
          <p:cNvPr id="8" name="Rectangle 7">
            <a:extLst>
              <a:ext uri="{FF2B5EF4-FFF2-40B4-BE49-F238E27FC236}">
                <a16:creationId xmlns:a16="http://schemas.microsoft.com/office/drawing/2014/main" id="{D2C38B33-3E0C-4FF7-B1BB-65AB6A71BE22}"/>
              </a:ext>
            </a:extLst>
          </p:cNvPr>
          <p:cNvSpPr>
            <a:spLocks noGrp="1"/>
          </p:cNvSpPr>
          <p:nvPr/>
        </p:nvSpPr>
        <p:spPr>
          <a:xfrm>
            <a:off x="1047750" y="2095500"/>
            <a:ext cx="1085850" cy="266700"/>
          </a:xfrm>
          <a:prstGeom prst="rect">
            <a:avLst/>
          </a:prstGeom>
          <a:noFill/>
          <a:ln w="0">
            <a:noFill/>
            <a:prstDash val="solid"/>
          </a:ln>
        </p:spPr>
        <p:txBody>
          <a:bodyPr wrap="square">
            <a:normAutofit fontScale="97696" lnSpcReduction="10000"/>
          </a:bodyPr>
          <a:lstStyle/>
          <a:p>
            <a:pPr>
              <a:defRPr sz="1275" b="0">
                <a:solidFill>
                  <a:srgbClr val="4C4C4C"/>
                </a:solidFill>
                <a:latin typeface="Noto Serif Medium"/>
                <a:ea typeface="Noto Serif Medium"/>
                <a:cs typeface="Noto Serif Medium"/>
              </a:defRPr>
            </a:pPr>
            <a:r>
              <a:rPr sz="1275" b="0">
                <a:solidFill>
                  <a:srgbClr val="4C4C4C"/>
                </a:solidFill>
                <a:latin typeface="Noto Serif Medium"/>
                <a:ea typeface="Noto Serif Medium"/>
                <a:cs typeface="Noto Serif Medium"/>
              </a:rPr>
              <a:t>S3 factures</a:t>
            </a:r>
          </a:p>
        </p:txBody>
      </p:sp>
      <p:sp>
        <p:nvSpPr>
          <p:cNvPr id="9" name="Rectangle 8">
            <a:extLst>
              <a:ext uri="{FF2B5EF4-FFF2-40B4-BE49-F238E27FC236}">
                <a16:creationId xmlns:a16="http://schemas.microsoft.com/office/drawing/2014/main" id="{D32BF264-9328-4061-BBD4-C9E347F01F49}"/>
              </a:ext>
            </a:extLst>
          </p:cNvPr>
          <p:cNvSpPr>
            <a:spLocks noGrp="1"/>
          </p:cNvSpPr>
          <p:nvPr/>
        </p:nvSpPr>
        <p:spPr>
          <a:xfrm>
            <a:off x="685800" y="2486025"/>
            <a:ext cx="1428750" cy="1314450"/>
          </a:xfrm>
          <a:prstGeom prst="rect">
            <a:avLst/>
          </a:prstGeom>
          <a:noFill/>
          <a:ln w="0">
            <a:noFill/>
            <a:prstDash val="solid"/>
          </a:ln>
        </p:spPr>
        <p:txBody>
          <a:bodyPr wrap="square">
            <a:normAutofit/>
          </a:bodyPr>
          <a:lstStyle/>
          <a:p>
            <a:pPr>
              <a:defRPr sz="938" b="0">
                <a:solidFill>
                  <a:srgbClr val="4C4C4C"/>
                </a:solidFill>
                <a:latin typeface="Noto Serif"/>
                <a:ea typeface="Noto Serif"/>
                <a:cs typeface="Noto Serif"/>
              </a:defRPr>
            </a:pPr>
            <a:r>
              <a:rPr sz="938" b="0">
                <a:solidFill>
                  <a:srgbClr val="4C4C4C"/>
                </a:solidFill>
                <a:latin typeface="Noto Serif"/>
                <a:ea typeface="Noto Serif"/>
                <a:cs typeface="Noto Serif"/>
              </a:rPr>
              <a:t>Stockage des PDF fournisseurs uploadés depuis le dashboard, avec génération d'une URL par facture pour garder la trace documentaire.</a:t>
            </a:r>
          </a:p>
        </p:txBody>
      </p:sp>
      <p:sp>
        <p:nvSpPr>
          <p:cNvPr id="10" name="Rectangle : coins arrondis 9">
            <a:extLst>
              <a:ext uri="{FF2B5EF4-FFF2-40B4-BE49-F238E27FC236}">
                <a16:creationId xmlns:a16="http://schemas.microsoft.com/office/drawing/2014/main" id="{EDDD104F-A8A2-4362-A226-E0EB0A9B7845}"/>
              </a:ext>
            </a:extLst>
          </p:cNvPr>
          <p:cNvSpPr>
            <a:spLocks noGrp="1"/>
          </p:cNvSpPr>
          <p:nvPr/>
        </p:nvSpPr>
        <p:spPr>
          <a:xfrm>
            <a:off x="2514600" y="1933575"/>
            <a:ext cx="1809750" cy="2000250"/>
          </a:xfrm>
          <a:prstGeom prst="roundRect">
            <a:avLst>
              <a:gd name="adj" fmla="val 4211"/>
            </a:avLst>
          </a:prstGeom>
          <a:solidFill>
            <a:srgbClr val="F6F2EB"/>
          </a:solidFill>
          <a:ln w="9525">
            <a:solidFill>
              <a:srgbClr val="D8D1C7"/>
            </a:solidFill>
            <a:prstDash val="solid"/>
          </a:ln>
        </p:spPr>
        <p:txBody>
          <a:bodyPr/>
          <a:lstStyle/>
          <a:p>
            <a:endParaRPr lang="fr-FR"/>
          </a:p>
        </p:txBody>
      </p:sp>
      <p:sp>
        <p:nvSpPr>
          <p:cNvPr id="11" name="Ellipse 10">
            <a:extLst>
              <a:ext uri="{FF2B5EF4-FFF2-40B4-BE49-F238E27FC236}">
                <a16:creationId xmlns:a16="http://schemas.microsoft.com/office/drawing/2014/main" id="{2B132545-1C37-469B-83FC-74D7C00ADC34}"/>
              </a:ext>
            </a:extLst>
          </p:cNvPr>
          <p:cNvSpPr>
            <a:spLocks noGrp="1"/>
          </p:cNvSpPr>
          <p:nvPr/>
        </p:nvSpPr>
        <p:spPr>
          <a:xfrm>
            <a:off x="2667000" y="2066925"/>
            <a:ext cx="285750" cy="285750"/>
          </a:xfrm>
          <a:prstGeom prst="ellipse">
            <a:avLst/>
          </a:prstGeom>
          <a:solidFill>
            <a:srgbClr val="F0ECE6"/>
          </a:solidFill>
          <a:ln w="0">
            <a:noFill/>
            <a:prstDash val="solid"/>
          </a:ln>
        </p:spPr>
        <p:txBody>
          <a:bodyPr/>
          <a:lstStyle/>
          <a:p>
            <a:endParaRPr lang="fr-FR"/>
          </a:p>
        </p:txBody>
      </p:sp>
      <p:sp>
        <p:nvSpPr>
          <p:cNvPr id="12" name="Rectangle 11">
            <a:extLst>
              <a:ext uri="{FF2B5EF4-FFF2-40B4-BE49-F238E27FC236}">
                <a16:creationId xmlns:a16="http://schemas.microsoft.com/office/drawing/2014/main" id="{179B1438-D08E-4807-BB9B-70AC23044BB6}"/>
              </a:ext>
            </a:extLst>
          </p:cNvPr>
          <p:cNvSpPr>
            <a:spLocks noGrp="1"/>
          </p:cNvSpPr>
          <p:nvPr/>
        </p:nvSpPr>
        <p:spPr>
          <a:xfrm>
            <a:off x="2667000" y="2114550"/>
            <a:ext cx="285750" cy="171450"/>
          </a:xfrm>
          <a:prstGeom prst="rect">
            <a:avLst/>
          </a:prstGeom>
          <a:noFill/>
          <a:ln w="0">
            <a:noFill/>
            <a:prstDash val="solid"/>
          </a:ln>
        </p:spPr>
        <p:txBody>
          <a:bodyPr wrap="none" anchor="ctr"/>
          <a:lstStyle/>
          <a:p>
            <a:pPr algn="ctr">
              <a:defRPr sz="975" b="0">
                <a:solidFill>
                  <a:srgbClr val="3A3A3A"/>
                </a:solidFill>
                <a:latin typeface="Noto Serif Medium"/>
                <a:ea typeface="Noto Serif Medium"/>
                <a:cs typeface="Noto Serif Medium"/>
              </a:defRPr>
            </a:pPr>
            <a:r>
              <a:rPr sz="975" b="0">
                <a:solidFill>
                  <a:srgbClr val="3A3A3A"/>
                </a:solidFill>
                <a:latin typeface="Noto Serif Medium"/>
                <a:ea typeface="Noto Serif Medium"/>
                <a:cs typeface="Noto Serif Medium"/>
              </a:rPr>
              <a:t>2</a:t>
            </a:r>
          </a:p>
        </p:txBody>
      </p:sp>
      <p:sp>
        <p:nvSpPr>
          <p:cNvPr id="13" name="Rectangle 12">
            <a:extLst>
              <a:ext uri="{FF2B5EF4-FFF2-40B4-BE49-F238E27FC236}">
                <a16:creationId xmlns:a16="http://schemas.microsoft.com/office/drawing/2014/main" id="{431B0062-1187-422C-BA28-D866606A5BB0}"/>
              </a:ext>
            </a:extLst>
          </p:cNvPr>
          <p:cNvSpPr>
            <a:spLocks noGrp="1"/>
          </p:cNvSpPr>
          <p:nvPr/>
        </p:nvSpPr>
        <p:spPr>
          <a:xfrm>
            <a:off x="3067050" y="2095500"/>
            <a:ext cx="1085850" cy="266700"/>
          </a:xfrm>
          <a:prstGeom prst="rect">
            <a:avLst/>
          </a:prstGeom>
          <a:noFill/>
          <a:ln w="0">
            <a:noFill/>
            <a:prstDash val="solid"/>
          </a:ln>
        </p:spPr>
        <p:txBody>
          <a:bodyPr wrap="square">
            <a:normAutofit fontScale="97696" lnSpcReduction="10000"/>
          </a:bodyPr>
          <a:lstStyle/>
          <a:p>
            <a:pPr>
              <a:defRPr sz="1275" b="0">
                <a:solidFill>
                  <a:srgbClr val="4C4C4C"/>
                </a:solidFill>
                <a:latin typeface="Noto Serif Medium"/>
                <a:ea typeface="Noto Serif Medium"/>
                <a:cs typeface="Noto Serif Medium"/>
              </a:defRPr>
            </a:pPr>
            <a:r>
              <a:rPr sz="1275" b="0">
                <a:solidFill>
                  <a:srgbClr val="4C4C4C"/>
                </a:solidFill>
                <a:latin typeface="Noto Serif Medium"/>
                <a:ea typeface="Noto Serif Medium"/>
                <a:cs typeface="Noto Serif Medium"/>
              </a:rPr>
              <a:t>Textract OCR</a:t>
            </a:r>
          </a:p>
        </p:txBody>
      </p:sp>
      <p:sp>
        <p:nvSpPr>
          <p:cNvPr id="14" name="Rectangle 13">
            <a:extLst>
              <a:ext uri="{FF2B5EF4-FFF2-40B4-BE49-F238E27FC236}">
                <a16:creationId xmlns:a16="http://schemas.microsoft.com/office/drawing/2014/main" id="{09ED7284-85B6-4FA0-A65D-1869FCFF3E07}"/>
              </a:ext>
            </a:extLst>
          </p:cNvPr>
          <p:cNvSpPr>
            <a:spLocks noGrp="1"/>
          </p:cNvSpPr>
          <p:nvPr/>
        </p:nvSpPr>
        <p:spPr>
          <a:xfrm>
            <a:off x="2705100" y="2486025"/>
            <a:ext cx="1428750" cy="1314450"/>
          </a:xfrm>
          <a:prstGeom prst="rect">
            <a:avLst/>
          </a:prstGeom>
          <a:noFill/>
          <a:ln w="0">
            <a:noFill/>
            <a:prstDash val="solid"/>
          </a:ln>
        </p:spPr>
        <p:txBody>
          <a:bodyPr wrap="square">
            <a:normAutofit/>
          </a:bodyPr>
          <a:lstStyle/>
          <a:p>
            <a:pPr>
              <a:defRPr sz="938" b="0">
                <a:solidFill>
                  <a:srgbClr val="4C4C4C"/>
                </a:solidFill>
                <a:latin typeface="Noto Serif"/>
                <a:ea typeface="Noto Serif"/>
                <a:cs typeface="Noto Serif"/>
              </a:defRPr>
            </a:pPr>
            <a:r>
              <a:rPr sz="938" b="0">
                <a:solidFill>
                  <a:srgbClr val="4C4C4C"/>
                </a:solidFill>
                <a:latin typeface="Noto Serif"/>
                <a:ea typeface="Noto Serif"/>
                <a:cs typeface="Noto Serif"/>
              </a:rPr>
              <a:t>AnalyzeDocument avec QUERIES + TABLES pour extraire fournisseur, date, montants HT/TTC/TVA et lignes d'articles sans ressaisie.</a:t>
            </a:r>
          </a:p>
        </p:txBody>
      </p:sp>
      <p:sp>
        <p:nvSpPr>
          <p:cNvPr id="15" name="Rectangle : coins arrondis 14">
            <a:extLst>
              <a:ext uri="{FF2B5EF4-FFF2-40B4-BE49-F238E27FC236}">
                <a16:creationId xmlns:a16="http://schemas.microsoft.com/office/drawing/2014/main" id="{B3FA6F33-66BD-4356-A99E-0ECABA72543E}"/>
              </a:ext>
            </a:extLst>
          </p:cNvPr>
          <p:cNvSpPr>
            <a:spLocks noGrp="1"/>
          </p:cNvSpPr>
          <p:nvPr/>
        </p:nvSpPr>
        <p:spPr>
          <a:xfrm>
            <a:off x="4533900" y="1933575"/>
            <a:ext cx="1809750" cy="2000250"/>
          </a:xfrm>
          <a:prstGeom prst="roundRect">
            <a:avLst>
              <a:gd name="adj" fmla="val 4211"/>
            </a:avLst>
          </a:prstGeom>
          <a:solidFill>
            <a:srgbClr val="F6F2EB"/>
          </a:solidFill>
          <a:ln w="9525">
            <a:solidFill>
              <a:srgbClr val="D8D1C7"/>
            </a:solidFill>
            <a:prstDash val="solid"/>
          </a:ln>
        </p:spPr>
        <p:txBody>
          <a:bodyPr/>
          <a:lstStyle/>
          <a:p>
            <a:endParaRPr lang="fr-FR"/>
          </a:p>
        </p:txBody>
      </p:sp>
      <p:sp>
        <p:nvSpPr>
          <p:cNvPr id="16" name="Ellipse 15">
            <a:extLst>
              <a:ext uri="{FF2B5EF4-FFF2-40B4-BE49-F238E27FC236}">
                <a16:creationId xmlns:a16="http://schemas.microsoft.com/office/drawing/2014/main" id="{70A81859-ADEB-4B2C-81D5-9155FA2DCB70}"/>
              </a:ext>
            </a:extLst>
          </p:cNvPr>
          <p:cNvSpPr>
            <a:spLocks noGrp="1"/>
          </p:cNvSpPr>
          <p:nvPr/>
        </p:nvSpPr>
        <p:spPr>
          <a:xfrm>
            <a:off x="4686300" y="2066925"/>
            <a:ext cx="285750" cy="285750"/>
          </a:xfrm>
          <a:prstGeom prst="ellipse">
            <a:avLst/>
          </a:prstGeom>
          <a:solidFill>
            <a:srgbClr val="F0ECE6"/>
          </a:solidFill>
          <a:ln w="0">
            <a:noFill/>
            <a:prstDash val="solid"/>
          </a:ln>
        </p:spPr>
        <p:txBody>
          <a:bodyPr/>
          <a:lstStyle/>
          <a:p>
            <a:endParaRPr lang="fr-FR"/>
          </a:p>
        </p:txBody>
      </p:sp>
      <p:sp>
        <p:nvSpPr>
          <p:cNvPr id="17" name="Rectangle 16">
            <a:extLst>
              <a:ext uri="{FF2B5EF4-FFF2-40B4-BE49-F238E27FC236}">
                <a16:creationId xmlns:a16="http://schemas.microsoft.com/office/drawing/2014/main" id="{E7356269-6BCA-4074-A392-71966A776214}"/>
              </a:ext>
            </a:extLst>
          </p:cNvPr>
          <p:cNvSpPr>
            <a:spLocks noGrp="1"/>
          </p:cNvSpPr>
          <p:nvPr/>
        </p:nvSpPr>
        <p:spPr>
          <a:xfrm>
            <a:off x="4686300" y="2114550"/>
            <a:ext cx="285750" cy="171450"/>
          </a:xfrm>
          <a:prstGeom prst="rect">
            <a:avLst/>
          </a:prstGeom>
          <a:noFill/>
          <a:ln w="0">
            <a:noFill/>
            <a:prstDash val="solid"/>
          </a:ln>
        </p:spPr>
        <p:txBody>
          <a:bodyPr wrap="none" anchor="ctr"/>
          <a:lstStyle/>
          <a:p>
            <a:pPr algn="ctr">
              <a:defRPr sz="975" b="0">
                <a:solidFill>
                  <a:srgbClr val="3A3A3A"/>
                </a:solidFill>
                <a:latin typeface="Noto Serif Medium"/>
                <a:ea typeface="Noto Serif Medium"/>
                <a:cs typeface="Noto Serif Medium"/>
              </a:defRPr>
            </a:pPr>
            <a:r>
              <a:rPr sz="975" b="0">
                <a:solidFill>
                  <a:srgbClr val="3A3A3A"/>
                </a:solidFill>
                <a:latin typeface="Noto Serif Medium"/>
                <a:ea typeface="Noto Serif Medium"/>
                <a:cs typeface="Noto Serif Medium"/>
              </a:rPr>
              <a:t>3</a:t>
            </a:r>
          </a:p>
        </p:txBody>
      </p:sp>
      <p:sp>
        <p:nvSpPr>
          <p:cNvPr id="18" name="Rectangle 17">
            <a:extLst>
              <a:ext uri="{FF2B5EF4-FFF2-40B4-BE49-F238E27FC236}">
                <a16:creationId xmlns:a16="http://schemas.microsoft.com/office/drawing/2014/main" id="{2B36C444-4D20-4140-8EA1-87212B8F789E}"/>
              </a:ext>
            </a:extLst>
          </p:cNvPr>
          <p:cNvSpPr>
            <a:spLocks noGrp="1"/>
          </p:cNvSpPr>
          <p:nvPr/>
        </p:nvSpPr>
        <p:spPr>
          <a:xfrm>
            <a:off x="5086350" y="2095500"/>
            <a:ext cx="1085850" cy="266700"/>
          </a:xfrm>
          <a:prstGeom prst="rect">
            <a:avLst/>
          </a:prstGeom>
          <a:noFill/>
          <a:ln w="0">
            <a:noFill/>
            <a:prstDash val="solid"/>
          </a:ln>
        </p:spPr>
        <p:txBody>
          <a:bodyPr wrap="square">
            <a:normAutofit fontScale="86609"/>
          </a:bodyPr>
          <a:lstStyle/>
          <a:p>
            <a:pPr>
              <a:defRPr sz="1275" b="0">
                <a:solidFill>
                  <a:srgbClr val="4C4C4C"/>
                </a:solidFill>
                <a:latin typeface="Noto Serif Medium"/>
                <a:ea typeface="Noto Serif Medium"/>
                <a:cs typeface="Noto Serif Medium"/>
              </a:defRPr>
            </a:pPr>
            <a:r>
              <a:rPr sz="1275" b="0">
                <a:solidFill>
                  <a:srgbClr val="4C4C4C"/>
                </a:solidFill>
                <a:latin typeface="Noto Serif Medium"/>
                <a:ea typeface="Noto Serif Medium"/>
                <a:cs typeface="Noto Serif Medium"/>
              </a:rPr>
              <a:t>RDS PostgreSQL</a:t>
            </a:r>
          </a:p>
        </p:txBody>
      </p:sp>
      <p:sp>
        <p:nvSpPr>
          <p:cNvPr id="19" name="Rectangle 18">
            <a:extLst>
              <a:ext uri="{FF2B5EF4-FFF2-40B4-BE49-F238E27FC236}">
                <a16:creationId xmlns:a16="http://schemas.microsoft.com/office/drawing/2014/main" id="{D4B29BB8-37AC-4C17-B1B8-B643DF8EA979}"/>
              </a:ext>
            </a:extLst>
          </p:cNvPr>
          <p:cNvSpPr>
            <a:spLocks noGrp="1"/>
          </p:cNvSpPr>
          <p:nvPr/>
        </p:nvSpPr>
        <p:spPr>
          <a:xfrm>
            <a:off x="4724400" y="2486025"/>
            <a:ext cx="1428750" cy="1314450"/>
          </a:xfrm>
          <a:prstGeom prst="rect">
            <a:avLst/>
          </a:prstGeom>
          <a:noFill/>
          <a:ln w="0">
            <a:noFill/>
            <a:prstDash val="solid"/>
          </a:ln>
        </p:spPr>
        <p:txBody>
          <a:bodyPr wrap="square">
            <a:normAutofit/>
          </a:bodyPr>
          <a:lstStyle/>
          <a:p>
            <a:pPr>
              <a:defRPr sz="938" b="0">
                <a:solidFill>
                  <a:srgbClr val="4C4C4C"/>
                </a:solidFill>
                <a:latin typeface="Noto Serif"/>
                <a:ea typeface="Noto Serif"/>
                <a:cs typeface="Noto Serif"/>
              </a:defRPr>
            </a:pPr>
            <a:r>
              <a:rPr sz="938" b="0">
                <a:solidFill>
                  <a:srgbClr val="4C4C4C"/>
                </a:solidFill>
                <a:latin typeface="Noto Serif"/>
                <a:ea typeface="Noto Serif"/>
                <a:cs typeface="Noto Serif"/>
              </a:rPr>
              <a:t>Base relationnelle cible pour daily_revenues, invoices, invoice_items et expenses : une source de vérité structurée pour le pilotage.</a:t>
            </a:r>
          </a:p>
        </p:txBody>
      </p:sp>
      <p:sp>
        <p:nvSpPr>
          <p:cNvPr id="20" name="Rectangle : coins arrondis 19">
            <a:extLst>
              <a:ext uri="{FF2B5EF4-FFF2-40B4-BE49-F238E27FC236}">
                <a16:creationId xmlns:a16="http://schemas.microsoft.com/office/drawing/2014/main" id="{10EA2B05-2E63-477A-A2DD-BD688D8C73F0}"/>
              </a:ext>
            </a:extLst>
          </p:cNvPr>
          <p:cNvSpPr>
            <a:spLocks noGrp="1"/>
          </p:cNvSpPr>
          <p:nvPr/>
        </p:nvSpPr>
        <p:spPr>
          <a:xfrm>
            <a:off x="6553200" y="1933575"/>
            <a:ext cx="1809750" cy="2000250"/>
          </a:xfrm>
          <a:prstGeom prst="roundRect">
            <a:avLst>
              <a:gd name="adj" fmla="val 4211"/>
            </a:avLst>
          </a:prstGeom>
          <a:solidFill>
            <a:srgbClr val="F6F2EB"/>
          </a:solidFill>
          <a:ln w="9525">
            <a:solidFill>
              <a:srgbClr val="D8D1C7"/>
            </a:solidFill>
            <a:prstDash val="solid"/>
          </a:ln>
        </p:spPr>
        <p:txBody>
          <a:bodyPr/>
          <a:lstStyle/>
          <a:p>
            <a:endParaRPr lang="fr-FR"/>
          </a:p>
        </p:txBody>
      </p:sp>
      <p:sp>
        <p:nvSpPr>
          <p:cNvPr id="21" name="Ellipse 20">
            <a:extLst>
              <a:ext uri="{FF2B5EF4-FFF2-40B4-BE49-F238E27FC236}">
                <a16:creationId xmlns:a16="http://schemas.microsoft.com/office/drawing/2014/main" id="{244C2162-8C04-4C9D-92CF-EFC04005DFCE}"/>
              </a:ext>
            </a:extLst>
          </p:cNvPr>
          <p:cNvSpPr>
            <a:spLocks noGrp="1"/>
          </p:cNvSpPr>
          <p:nvPr/>
        </p:nvSpPr>
        <p:spPr>
          <a:xfrm>
            <a:off x="6705600" y="2066925"/>
            <a:ext cx="285750" cy="285750"/>
          </a:xfrm>
          <a:prstGeom prst="ellipse">
            <a:avLst/>
          </a:prstGeom>
          <a:solidFill>
            <a:srgbClr val="F0ECE6"/>
          </a:solidFill>
          <a:ln w="0">
            <a:noFill/>
            <a:prstDash val="solid"/>
          </a:ln>
        </p:spPr>
        <p:txBody>
          <a:bodyPr/>
          <a:lstStyle/>
          <a:p>
            <a:endParaRPr lang="fr-FR"/>
          </a:p>
        </p:txBody>
      </p:sp>
      <p:sp>
        <p:nvSpPr>
          <p:cNvPr id="22" name="Rectangle 21">
            <a:extLst>
              <a:ext uri="{FF2B5EF4-FFF2-40B4-BE49-F238E27FC236}">
                <a16:creationId xmlns:a16="http://schemas.microsoft.com/office/drawing/2014/main" id="{D00BAC2B-5196-4DD6-9D70-60DC0B42D54C}"/>
              </a:ext>
            </a:extLst>
          </p:cNvPr>
          <p:cNvSpPr>
            <a:spLocks noGrp="1"/>
          </p:cNvSpPr>
          <p:nvPr/>
        </p:nvSpPr>
        <p:spPr>
          <a:xfrm>
            <a:off x="6705600" y="2114550"/>
            <a:ext cx="285750" cy="171450"/>
          </a:xfrm>
          <a:prstGeom prst="rect">
            <a:avLst/>
          </a:prstGeom>
          <a:noFill/>
          <a:ln w="0">
            <a:noFill/>
            <a:prstDash val="solid"/>
          </a:ln>
        </p:spPr>
        <p:txBody>
          <a:bodyPr wrap="none" anchor="ctr"/>
          <a:lstStyle/>
          <a:p>
            <a:pPr algn="ctr">
              <a:defRPr sz="975" b="0">
                <a:solidFill>
                  <a:srgbClr val="3A3A3A"/>
                </a:solidFill>
                <a:latin typeface="Noto Serif Medium"/>
                <a:ea typeface="Noto Serif Medium"/>
                <a:cs typeface="Noto Serif Medium"/>
              </a:defRPr>
            </a:pPr>
            <a:r>
              <a:rPr sz="975" b="0">
                <a:solidFill>
                  <a:srgbClr val="3A3A3A"/>
                </a:solidFill>
                <a:latin typeface="Noto Serif Medium"/>
                <a:ea typeface="Noto Serif Medium"/>
                <a:cs typeface="Noto Serif Medium"/>
              </a:rPr>
              <a:t>4</a:t>
            </a:r>
          </a:p>
        </p:txBody>
      </p:sp>
      <p:sp>
        <p:nvSpPr>
          <p:cNvPr id="23" name="Rectangle 22">
            <a:extLst>
              <a:ext uri="{FF2B5EF4-FFF2-40B4-BE49-F238E27FC236}">
                <a16:creationId xmlns:a16="http://schemas.microsoft.com/office/drawing/2014/main" id="{FD566BDA-495E-4116-8AB9-46E00FCC23F4}"/>
              </a:ext>
            </a:extLst>
          </p:cNvPr>
          <p:cNvSpPr>
            <a:spLocks noGrp="1"/>
          </p:cNvSpPr>
          <p:nvPr/>
        </p:nvSpPr>
        <p:spPr>
          <a:xfrm>
            <a:off x="7105650" y="2095500"/>
            <a:ext cx="1085850" cy="266700"/>
          </a:xfrm>
          <a:prstGeom prst="rect">
            <a:avLst/>
          </a:prstGeom>
          <a:noFill/>
          <a:ln w="0">
            <a:noFill/>
            <a:prstDash val="solid"/>
          </a:ln>
        </p:spPr>
        <p:txBody>
          <a:bodyPr wrap="square">
            <a:normAutofit fontScale="64250" lnSpcReduction="20000"/>
          </a:bodyPr>
          <a:lstStyle/>
          <a:p>
            <a:pPr>
              <a:defRPr sz="1275" b="0">
                <a:solidFill>
                  <a:srgbClr val="4C4C4C"/>
                </a:solidFill>
                <a:latin typeface="Noto Serif Medium"/>
                <a:ea typeface="Noto Serif Medium"/>
                <a:cs typeface="Noto Serif Medium"/>
              </a:defRPr>
            </a:pPr>
            <a:r>
              <a:rPr sz="1275" b="0">
                <a:solidFill>
                  <a:srgbClr val="4C4C4C"/>
                </a:solidFill>
                <a:latin typeface="Noto Serif Medium"/>
                <a:ea typeface="Noto Serif Medium"/>
                <a:cs typeface="Noto Serif Medium"/>
              </a:rPr>
              <a:t>SageMaker + Lambda</a:t>
            </a:r>
          </a:p>
        </p:txBody>
      </p:sp>
      <p:sp>
        <p:nvSpPr>
          <p:cNvPr id="24" name="Rectangle 23">
            <a:extLst>
              <a:ext uri="{FF2B5EF4-FFF2-40B4-BE49-F238E27FC236}">
                <a16:creationId xmlns:a16="http://schemas.microsoft.com/office/drawing/2014/main" id="{0132CBB4-5F80-4953-AC0F-4E78A3B04355}"/>
              </a:ext>
            </a:extLst>
          </p:cNvPr>
          <p:cNvSpPr>
            <a:spLocks noGrp="1"/>
          </p:cNvSpPr>
          <p:nvPr/>
        </p:nvSpPr>
        <p:spPr>
          <a:xfrm>
            <a:off x="6743700" y="2486025"/>
            <a:ext cx="1428750" cy="1314450"/>
          </a:xfrm>
          <a:prstGeom prst="rect">
            <a:avLst/>
          </a:prstGeom>
          <a:noFill/>
          <a:ln w="0">
            <a:noFill/>
            <a:prstDash val="solid"/>
          </a:ln>
        </p:spPr>
        <p:txBody>
          <a:bodyPr wrap="square">
            <a:normAutofit/>
          </a:bodyPr>
          <a:lstStyle/>
          <a:p>
            <a:pPr>
              <a:defRPr sz="938" b="0">
                <a:solidFill>
                  <a:srgbClr val="4C4C4C"/>
                </a:solidFill>
                <a:latin typeface="Noto Serif"/>
                <a:ea typeface="Noto Serif"/>
                <a:cs typeface="Noto Serif"/>
              </a:defRPr>
            </a:pPr>
            <a:r>
              <a:rPr sz="938" b="0">
                <a:solidFill>
                  <a:srgbClr val="4C4C4C"/>
                </a:solidFill>
                <a:latin typeface="Noto Serif"/>
                <a:ea typeface="Noto Serif"/>
                <a:cs typeface="Noto Serif"/>
              </a:rPr>
              <a:t>Un job mensuel relance l'entraînement Prophet depuis RDS, puis publie predictions.json et le modèle versionné dans S3.</a:t>
            </a:r>
          </a:p>
        </p:txBody>
      </p:sp>
      <p:sp>
        <p:nvSpPr>
          <p:cNvPr id="25" name="Rectangle 24">
            <a:extLst>
              <a:ext uri="{FF2B5EF4-FFF2-40B4-BE49-F238E27FC236}">
                <a16:creationId xmlns:a16="http://schemas.microsoft.com/office/drawing/2014/main" id="{1AF1AFC2-E751-4252-96FC-CC1DB218630F}"/>
              </a:ext>
            </a:extLst>
          </p:cNvPr>
          <p:cNvSpPr>
            <a:spLocks noGrp="1"/>
          </p:cNvSpPr>
          <p:nvPr/>
        </p:nvSpPr>
        <p:spPr>
          <a:xfrm>
            <a:off x="495300" y="4229100"/>
            <a:ext cx="6743700" cy="11430"/>
          </a:xfrm>
          <a:prstGeom prst="rect">
            <a:avLst/>
          </a:prstGeom>
          <a:solidFill>
            <a:srgbClr val="D8D1C7"/>
          </a:solidFill>
          <a:ln w="0">
            <a:noFill/>
            <a:prstDash val="solid"/>
          </a:ln>
        </p:spPr>
        <p:txBody>
          <a:bodyPr/>
          <a:lstStyle/>
          <a:p>
            <a:endParaRPr lang="fr-FR"/>
          </a:p>
        </p:txBody>
      </p:sp>
      <p:sp>
        <p:nvSpPr>
          <p:cNvPr id="26" name="Rectangle 25">
            <a:extLst>
              <a:ext uri="{FF2B5EF4-FFF2-40B4-BE49-F238E27FC236}">
                <a16:creationId xmlns:a16="http://schemas.microsoft.com/office/drawing/2014/main" id="{31BCDB12-24AD-481C-96E1-38680BE9C8D8}"/>
              </a:ext>
            </a:extLst>
          </p:cNvPr>
          <p:cNvSpPr>
            <a:spLocks noGrp="1"/>
          </p:cNvSpPr>
          <p:nvPr/>
        </p:nvSpPr>
        <p:spPr>
          <a:xfrm>
            <a:off x="495300" y="4400550"/>
            <a:ext cx="1428750" cy="228600"/>
          </a:xfrm>
          <a:prstGeom prst="rect">
            <a:avLst/>
          </a:prstGeom>
          <a:noFill/>
          <a:ln w="0">
            <a:noFill/>
            <a:prstDash val="solid"/>
          </a:ln>
        </p:spPr>
        <p:txBody>
          <a:bodyPr/>
          <a:lstStyle/>
          <a:p>
            <a:pPr>
              <a:defRPr sz="1200" b="0">
                <a:solidFill>
                  <a:srgbClr val="3A3A3A"/>
                </a:solidFill>
                <a:latin typeface="Noto Serif Medium"/>
                <a:ea typeface="Noto Serif Medium"/>
                <a:cs typeface="Noto Serif Medium"/>
              </a:defRPr>
            </a:pPr>
            <a:r>
              <a:rPr sz="1200" b="0">
                <a:solidFill>
                  <a:srgbClr val="3A3A3A"/>
                </a:solidFill>
                <a:latin typeface="Noto Serif Medium"/>
                <a:ea typeface="Noto Serif Medium"/>
                <a:cs typeface="Noto Serif Medium"/>
              </a:rPr>
              <a:t>Impact business</a:t>
            </a:r>
          </a:p>
        </p:txBody>
      </p:sp>
      <p:sp>
        <p:nvSpPr>
          <p:cNvPr id="27" name="Rectangle 26">
            <a:extLst>
              <a:ext uri="{FF2B5EF4-FFF2-40B4-BE49-F238E27FC236}">
                <a16:creationId xmlns:a16="http://schemas.microsoft.com/office/drawing/2014/main" id="{8FC49208-039D-4E74-B013-DDECEEC176CE}"/>
              </a:ext>
            </a:extLst>
          </p:cNvPr>
          <p:cNvSpPr>
            <a:spLocks noGrp="1"/>
          </p:cNvSpPr>
          <p:nvPr/>
        </p:nvSpPr>
        <p:spPr>
          <a:xfrm>
            <a:off x="2047875" y="4400550"/>
            <a:ext cx="5791200" cy="419100"/>
          </a:xfrm>
          <a:prstGeom prst="rect">
            <a:avLst/>
          </a:prstGeom>
          <a:noFill/>
          <a:ln w="0">
            <a:noFill/>
            <a:prstDash val="solid"/>
          </a:ln>
        </p:spPr>
        <p:txBody>
          <a:bodyPr wrap="square">
            <a:normAutofit fontScale="92500"/>
          </a:bodyPr>
          <a:lstStyle/>
          <a:p>
            <a:pPr>
              <a:defRPr sz="975" b="0">
                <a:solidFill>
                  <a:srgbClr val="4C4C4C"/>
                </a:solidFill>
                <a:latin typeface="Noto Serif"/>
                <a:ea typeface="Noto Serif"/>
                <a:cs typeface="Noto Serif"/>
              </a:defRPr>
            </a:pPr>
            <a:r>
              <a:rPr sz="975" b="0">
                <a:solidFill>
                  <a:srgbClr val="4C4C4C"/>
                </a:solidFill>
                <a:latin typeface="Noto Serif"/>
                <a:ea typeface="Noto Serif"/>
                <a:cs typeface="Noto Serif"/>
              </a:rPr>
              <a:t>Moins de saisie manuelle, des données fournisseurs centralisées, une prévision de CA consultable dans le dashboard et une base prête pour scaler vers une exploitation multi-restaurants.</a:t>
            </a:r>
          </a:p>
        </p:txBody>
      </p:sp>
    </p:spTree>
    <p:extLst>
      <p:ext uri="{BB962C8B-B14F-4D97-AF65-F5344CB8AC3E}">
        <p14:creationId xmlns:p14="http://schemas.microsoft.com/office/powerpoint/2010/main" val="15962419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465CECE-F051-4305-91A0-2BBCA94EEDAF}"/>
              </a:ext>
            </a:extLst>
          </p:cNvPr>
          <p:cNvSpPr>
            <a:spLocks noGrp="1"/>
          </p:cNvSpPr>
          <p:nvPr/>
        </p:nvSpPr>
        <p:spPr>
          <a:xfrm>
            <a:off x="847948" y="314846"/>
            <a:ext cx="8296052" cy="442987"/>
          </a:xfrm>
          <a:prstGeom prst="rect">
            <a:avLst/>
          </a:prstGeom>
          <a:noFill/>
        </p:spPr>
        <p:txBody>
          <a:bodyPr wrap="none" lIns="0" tIns="0" rIns="0" bIns="0" anchor="t"/>
          <a:lstStyle/>
          <a:p>
            <a:pPr marL="0" indent="0" algn="l">
              <a:lnSpc>
                <a:spcPct val="104000"/>
              </a:lnSpc>
              <a:buNone/>
            </a:pPr>
            <a:r>
              <a:rPr lang="fr-FR" sz="2750" dirty="0">
                <a:solidFill>
                  <a:srgbClr val="3A3A3A"/>
                </a:solidFill>
                <a:latin typeface="Noto Serif Medium"/>
                <a:ea typeface="Noto Serif Medium"/>
                <a:cs typeface="Noto Serif Medium"/>
              </a:rPr>
              <a:t>AWS </a:t>
            </a:r>
            <a:r>
              <a:rPr lang="fr-FR" sz="2750" dirty="0" err="1">
                <a:solidFill>
                  <a:srgbClr val="3A3A3A"/>
                </a:solidFill>
                <a:latin typeface="Noto Serif Medium"/>
                <a:ea typeface="Noto Serif Medium"/>
                <a:cs typeface="Noto Serif Medium"/>
              </a:rPr>
              <a:t>Textract</a:t>
            </a:r>
            <a:r>
              <a:rPr lang="fr-FR" sz="2750" dirty="0">
                <a:solidFill>
                  <a:srgbClr val="3A3A3A"/>
                </a:solidFill>
                <a:latin typeface="Noto Serif Medium"/>
                <a:ea typeface="Noto Serif Medium"/>
                <a:cs typeface="Noto Serif Medium"/>
              </a:rPr>
              <a:t> : </a:t>
            </a:r>
            <a:r>
              <a:rPr lang="fr-FR" sz="2750" dirty="0" err="1">
                <a:solidFill>
                  <a:srgbClr val="3A3A3A"/>
                </a:solidFill>
                <a:latin typeface="Noto Serif Medium"/>
                <a:ea typeface="Noto Serif Medium"/>
                <a:cs typeface="Noto Serif Medium"/>
              </a:rPr>
              <a:t>Queries</a:t>
            </a:r>
            <a:r>
              <a:rPr lang="fr-FR" sz="2750" dirty="0">
                <a:solidFill>
                  <a:srgbClr val="3A3A3A"/>
                </a:solidFill>
                <a:latin typeface="Noto Serif Medium"/>
                <a:ea typeface="Noto Serif Medium"/>
                <a:cs typeface="Noto Serif Medium"/>
              </a:rPr>
              <a:t> pour OCR  </a:t>
            </a:r>
            <a:endParaRPr sz="2750" dirty="0">
              <a:solidFill>
                <a:srgbClr val="3A3A3A"/>
              </a:solidFill>
              <a:latin typeface="Noto Serif Medium"/>
              <a:ea typeface="Noto Serif Medium"/>
              <a:cs typeface="Noto Serif Medium"/>
            </a:endParaRPr>
          </a:p>
        </p:txBody>
      </p:sp>
      <p:pic>
        <p:nvPicPr>
          <p:cNvPr id="5" name="Image 4">
            <a:extLst>
              <a:ext uri="{FF2B5EF4-FFF2-40B4-BE49-F238E27FC236}">
                <a16:creationId xmlns:a16="http://schemas.microsoft.com/office/drawing/2014/main" id="{9F492481-54E1-7677-DB23-2C4036E295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361503"/>
            <a:ext cx="7772400" cy="2850852"/>
          </a:xfrm>
          <a:prstGeom prst="rect">
            <a:avLst/>
          </a:prstGeom>
        </p:spPr>
      </p:pic>
    </p:spTree>
    <p:extLst>
      <p:ext uri="{BB962C8B-B14F-4D97-AF65-F5344CB8AC3E}">
        <p14:creationId xmlns:p14="http://schemas.microsoft.com/office/powerpoint/2010/main" val="21099414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7B7850A-984F-4071-BDC3-B7CCFEB2CD97}"/>
              </a:ext>
            </a:extLst>
          </p:cNvPr>
          <p:cNvSpPr>
            <a:spLocks noGrp="1"/>
          </p:cNvSpPr>
          <p:nvPr/>
        </p:nvSpPr>
        <p:spPr>
          <a:xfrm>
            <a:off x="2571304" y="2350219"/>
            <a:ext cx="4001319" cy="442987"/>
          </a:xfrm>
          <a:prstGeom prst="rect">
            <a:avLst/>
          </a:prstGeom>
          <a:noFill/>
        </p:spPr>
        <p:txBody>
          <a:bodyPr wrap="none" lIns="0" tIns="0" rIns="0" bIns="0" anchor="t"/>
          <a:lstStyle/>
          <a:p>
            <a:pPr marL="0" indent="0" algn="ctr">
              <a:lnSpc>
                <a:spcPct val="104000"/>
              </a:lnSpc>
              <a:buNone/>
            </a:pPr>
            <a:r>
              <a:rPr sz="2750">
                <a:solidFill>
                  <a:srgbClr val="3A3A3A"/>
                </a:solidFill>
                <a:latin typeface="Noto Serif Medium"/>
                <a:ea typeface="Noto Serif Medium"/>
                <a:cs typeface="Noto Serif Medium"/>
              </a:rPr>
              <a:t>Q/A</a:t>
            </a:r>
          </a:p>
        </p:txBody>
      </p:sp>
    </p:spTree>
    <p:extLst>
      <p:ext uri="{BB962C8B-B14F-4D97-AF65-F5344CB8AC3E}">
        <p14:creationId xmlns:p14="http://schemas.microsoft.com/office/powerpoint/2010/main" val="276367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p:cNvPicPr>
            <a:picLocks noChangeAspect="1"/>
          </p:cNvPicPr>
          <p:nvPr/>
        </p:nvPicPr>
        <p:blipFill>
          <a:blip r:embed="rId3"/>
          <a:stretch>
            <a:fillRect/>
          </a:stretch>
        </p:blipFill>
        <p:spPr>
          <a:xfrm>
            <a:off x="496119" y="979512"/>
            <a:ext cx="3775546" cy="3184401"/>
          </a:xfrm>
          <a:prstGeom prst="rect">
            <a:avLst/>
          </a:prstGeom>
        </p:spPr>
      </p:pic>
      <p:sp>
        <p:nvSpPr>
          <p:cNvPr id="3" name="Text 0">
            <a:extLst>
              <a:ext uri="{FF2B5EF4-FFF2-40B4-BE49-F238E27FC236}">
                <a16:creationId xmlns:a16="http://schemas.microsoft.com/office/drawing/2014/main" id="{3D40967B-5177-4A33-9242-49696200E3FA}"/>
              </a:ext>
            </a:extLst>
          </p:cNvPr>
          <p:cNvSpPr>
            <a:spLocks noGrp="1"/>
          </p:cNvSpPr>
          <p:nvPr/>
        </p:nvSpPr>
        <p:spPr>
          <a:xfrm>
            <a:off x="4749701" y="2350219"/>
            <a:ext cx="4001319" cy="442987"/>
          </a:xfrm>
          <a:prstGeom prst="rect">
            <a:avLst/>
          </a:prstGeom>
          <a:noFill/>
        </p:spPr>
        <p:txBody>
          <a:bodyPr wrap="none" lIns="0" tIns="0" rIns="0" bIns="0" anchor="t"/>
          <a:lstStyle/>
          <a:p>
            <a:pPr marL="0" indent="0" algn="l">
              <a:lnSpc>
                <a:spcPct val="104000"/>
              </a:lnSpc>
              <a:buNone/>
            </a:pPr>
            <a:r>
              <a:rPr sz="2750">
                <a:solidFill>
                  <a:srgbClr val="3A3A3A"/>
                </a:solidFill>
                <a:latin typeface="Noto Serif Medium"/>
                <a:ea typeface="Noto Serif Medium"/>
                <a:cs typeface="Noto Serif Medium"/>
              </a:rPr>
              <a:t>Aperçu du dataset</a:t>
            </a:r>
          </a:p>
        </p:txBody>
      </p:sp>
    </p:spTree>
    <p:extLst>
      <p:ext uri="{BB962C8B-B14F-4D97-AF65-F5344CB8AC3E}">
        <p14:creationId xmlns:p14="http://schemas.microsoft.com/office/powerpoint/2010/main" val="16559389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46B90C4-6FDE-4DB1-A206-C403DD8C7DBD}"/>
              </a:ext>
            </a:extLst>
          </p:cNvPr>
          <p:cNvSpPr>
            <a:spLocks noGrp="1"/>
          </p:cNvSpPr>
          <p:nvPr/>
        </p:nvSpPr>
        <p:spPr>
          <a:xfrm>
            <a:off x="598066" y="405854"/>
            <a:ext cx="3694212" cy="359941"/>
          </a:xfrm>
          <a:prstGeom prst="rect">
            <a:avLst/>
          </a:prstGeom>
          <a:noFill/>
        </p:spPr>
        <p:txBody>
          <a:bodyPr wrap="none" lIns="0" tIns="0" rIns="0" bIns="0" anchor="t"/>
          <a:lstStyle/>
          <a:p>
            <a:pPr marL="0" indent="0" algn="l">
              <a:lnSpc>
                <a:spcPct val="104000"/>
              </a:lnSpc>
              <a:buNone/>
            </a:pPr>
            <a:r>
              <a:rPr sz="2250">
                <a:solidFill>
                  <a:srgbClr val="3A3A3A"/>
                </a:solidFill>
                <a:latin typeface="Noto Serif Medium"/>
                <a:ea typeface="Noto Serif Medium"/>
                <a:cs typeface="Noto Serif Medium"/>
              </a:rPr>
              <a:t>Architecture technique</a:t>
            </a:r>
          </a:p>
        </p:txBody>
      </p:sp>
      <p:pic>
        <p:nvPicPr>
          <p:cNvPr id="5" name="Image 0"/>
          <p:cNvPicPr>
            <a:picLocks noChangeAspect="1"/>
          </p:cNvPicPr>
          <p:nvPr/>
        </p:nvPicPr>
        <p:blipFill>
          <a:blip r:embed="rId3"/>
          <a:stretch>
            <a:fillRect/>
          </a:stretch>
        </p:blipFill>
        <p:spPr>
          <a:xfrm>
            <a:off x="598066" y="952946"/>
            <a:ext cx="6624191" cy="3784699"/>
          </a:xfrm>
          <a:prstGeom prst="rect">
            <a:avLst/>
          </a:prstGeom>
        </p:spPr>
      </p:pic>
    </p:spTree>
    <p:extLst>
      <p:ext uri="{BB962C8B-B14F-4D97-AF65-F5344CB8AC3E}">
        <p14:creationId xmlns:p14="http://schemas.microsoft.com/office/powerpoint/2010/main" val="6914877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0"/>
          <p:cNvPicPr>
            <a:picLocks noChangeAspect="1"/>
          </p:cNvPicPr>
          <p:nvPr/>
        </p:nvPicPr>
        <p:blipFill>
          <a:blip r:embed="rId3"/>
          <a:stretch>
            <a:fillRect/>
          </a:stretch>
        </p:blipFill>
        <p:spPr>
          <a:xfrm>
            <a:off x="0" y="0"/>
            <a:ext cx="3429000" cy="5143500"/>
          </a:xfrm>
          <a:prstGeom prst="rect">
            <a:avLst/>
          </a:prstGeom>
        </p:spPr>
      </p:pic>
      <p:pic>
        <p:nvPicPr>
          <p:cNvPr id="17" name="Image 1"/>
          <p:cNvPicPr>
            <a:picLocks noChangeAspect="1"/>
          </p:cNvPicPr>
          <p:nvPr/>
        </p:nvPicPr>
        <p:blipFill>
          <a:blip r:embed="rId4"/>
          <a:stretch>
            <a:fillRect/>
          </a:stretch>
        </p:blipFill>
        <p:spPr>
          <a:xfrm>
            <a:off x="70842" y="1256854"/>
            <a:ext cx="3287241" cy="2629793"/>
          </a:xfrm>
          <a:prstGeom prst="rect">
            <a:avLst/>
          </a:prstGeom>
        </p:spPr>
      </p:pic>
      <p:sp>
        <p:nvSpPr>
          <p:cNvPr id="4" name="Shape 0">
            <a:extLst>
              <a:ext uri="{FF2B5EF4-FFF2-40B4-BE49-F238E27FC236}">
                <a16:creationId xmlns:a16="http://schemas.microsoft.com/office/drawing/2014/main" id="{408FFFB6-A76A-4BCB-A295-AFB7066AD64E}"/>
              </a:ext>
            </a:extLst>
          </p:cNvPr>
          <p:cNvSpPr>
            <a:spLocks noGrp="1"/>
          </p:cNvSpPr>
          <p:nvPr/>
        </p:nvSpPr>
        <p:spPr>
          <a:xfrm>
            <a:off x="3925119" y="909042"/>
            <a:ext cx="859110" cy="266402"/>
          </a:xfrm>
          <a:prstGeom prst="roundRect">
            <a:avLst>
              <a:gd name="adj" fmla="val 17880"/>
            </a:avLst>
          </a:prstGeom>
          <a:solidFill>
            <a:srgbClr val="E8E6E3"/>
          </a:solidFill>
        </p:spPr>
        <p:txBody>
          <a:bodyPr/>
          <a:lstStyle/>
          <a:p>
            <a:endParaRPr lang="fr-FR"/>
          </a:p>
        </p:txBody>
      </p:sp>
      <p:sp>
        <p:nvSpPr>
          <p:cNvPr id="5" name="Text 1">
            <a:extLst>
              <a:ext uri="{FF2B5EF4-FFF2-40B4-BE49-F238E27FC236}">
                <a16:creationId xmlns:a16="http://schemas.microsoft.com/office/drawing/2014/main" id="{9AF08655-BB5D-4DED-833C-8ADA17610F46}"/>
              </a:ext>
            </a:extLst>
          </p:cNvPr>
          <p:cNvSpPr>
            <a:spLocks noGrp="1"/>
          </p:cNvSpPr>
          <p:nvPr/>
        </p:nvSpPr>
        <p:spPr>
          <a:xfrm>
            <a:off x="4010174" y="951533"/>
            <a:ext cx="1146200" cy="181421"/>
          </a:xfrm>
          <a:prstGeom prst="rect">
            <a:avLst/>
          </a:prstGeom>
          <a:noFill/>
        </p:spPr>
        <p:txBody>
          <a:bodyPr wrap="none" lIns="0" tIns="0" rIns="0" bIns="0" anchor="t"/>
          <a:lstStyle/>
          <a:p>
            <a:pPr marL="0" indent="0" algn="l">
              <a:lnSpc>
                <a:spcPct val="133000"/>
              </a:lnSpc>
              <a:buNone/>
            </a:pPr>
            <a:r>
              <a:rPr sz="850">
                <a:solidFill>
                  <a:srgbClr val="4C4C4C"/>
                </a:solidFill>
                <a:latin typeface="Noto Serif"/>
                <a:ea typeface="Noto Serif"/>
                <a:cs typeface="Noto Serif"/>
              </a:rPr>
              <a:t>LE CONCEPT</a:t>
            </a:r>
          </a:p>
        </p:txBody>
      </p:sp>
      <p:sp>
        <p:nvSpPr>
          <p:cNvPr id="6" name="Text 2">
            <a:extLst>
              <a:ext uri="{FF2B5EF4-FFF2-40B4-BE49-F238E27FC236}">
                <a16:creationId xmlns:a16="http://schemas.microsoft.com/office/drawing/2014/main" id="{E88F8CC8-F29D-4A4F-A443-CFD5B34775CF}"/>
              </a:ext>
            </a:extLst>
          </p:cNvPr>
          <p:cNvSpPr>
            <a:spLocks noGrp="1"/>
          </p:cNvSpPr>
          <p:nvPr/>
        </p:nvSpPr>
        <p:spPr>
          <a:xfrm>
            <a:off x="3925119" y="1232148"/>
            <a:ext cx="4001319" cy="442987"/>
          </a:xfrm>
          <a:prstGeom prst="rect">
            <a:avLst/>
          </a:prstGeom>
          <a:noFill/>
        </p:spPr>
        <p:txBody>
          <a:bodyPr wrap="none" lIns="0" tIns="0" rIns="0" bIns="0" anchor="t"/>
          <a:lstStyle/>
          <a:p>
            <a:pPr marL="0" indent="0" algn="l">
              <a:lnSpc>
                <a:spcPct val="104000"/>
              </a:lnSpc>
              <a:buNone/>
            </a:pPr>
            <a:r>
              <a:rPr sz="2750">
                <a:solidFill>
                  <a:srgbClr val="3A3A3A"/>
                </a:solidFill>
                <a:latin typeface="Noto Serif Medium"/>
                <a:ea typeface="Noto Serif Medium"/>
                <a:cs typeface="Noto Serif Medium"/>
              </a:rPr>
              <a:t>C'est quoi le projet ?</a:t>
            </a:r>
          </a:p>
        </p:txBody>
      </p:sp>
      <p:sp>
        <p:nvSpPr>
          <p:cNvPr id="7" name="Text 3">
            <a:extLst>
              <a:ext uri="{FF2B5EF4-FFF2-40B4-BE49-F238E27FC236}">
                <a16:creationId xmlns:a16="http://schemas.microsoft.com/office/drawing/2014/main" id="{F47F50BF-A73D-474C-A206-5128E810986A}"/>
              </a:ext>
            </a:extLst>
          </p:cNvPr>
          <p:cNvSpPr>
            <a:spLocks noGrp="1"/>
          </p:cNvSpPr>
          <p:nvPr/>
        </p:nvSpPr>
        <p:spPr>
          <a:xfrm>
            <a:off x="3925119" y="1887736"/>
            <a:ext cx="4722763" cy="680442"/>
          </a:xfrm>
          <a:prstGeom prst="rect">
            <a:avLst/>
          </a:prstGeom>
          <a:noFill/>
        </p:spPr>
        <p:txBody>
          <a:bodyPr wrap="square" lIns="0" tIns="0" rIns="0" bIns="0" anchor="t">
            <a:normAutofit/>
          </a:bodyPr>
          <a:lstStyle/>
          <a:p>
            <a:pPr marL="0" indent="0" algn="l">
              <a:lnSpc>
                <a:spcPct val="133000"/>
              </a:lnSpc>
              <a:buNone/>
            </a:pPr>
            <a:r>
              <a:rPr sz="1100">
                <a:solidFill>
                  <a:srgbClr val="4C4C4C"/>
                </a:solidFill>
                <a:latin typeface="Noto Serif"/>
                <a:ea typeface="Noto Serif"/>
                <a:cs typeface="Noto Serif"/>
              </a:rPr>
              <a:t>RestoLens est une plateforme de pilotage pour restaurateurs indépendants (TPE). Un seul dashboard web intelligent remplace le tableur Excel, les factures papier et les notes téléphone.</a:t>
            </a:r>
          </a:p>
        </p:txBody>
      </p:sp>
      <p:sp>
        <p:nvSpPr>
          <p:cNvPr id="8" name="Shape 4">
            <a:extLst>
              <a:ext uri="{FF2B5EF4-FFF2-40B4-BE49-F238E27FC236}">
                <a16:creationId xmlns:a16="http://schemas.microsoft.com/office/drawing/2014/main" id="{235C054A-0E2D-4BB3-B2FE-BC0517183445}"/>
              </a:ext>
            </a:extLst>
          </p:cNvPr>
          <p:cNvSpPr>
            <a:spLocks noGrp="1"/>
          </p:cNvSpPr>
          <p:nvPr/>
        </p:nvSpPr>
        <p:spPr>
          <a:xfrm>
            <a:off x="3925119" y="2727647"/>
            <a:ext cx="2290465" cy="1506810"/>
          </a:xfrm>
          <a:prstGeom prst="roundRect">
            <a:avLst>
              <a:gd name="adj" fmla="val 3952"/>
            </a:avLst>
          </a:prstGeom>
          <a:solidFill>
            <a:srgbClr val="E6DED2">
              <a:alpha val="50000"/>
            </a:srgbClr>
          </a:solidFill>
          <a:ln w="4763">
            <a:solidFill>
              <a:srgbClr val="CCC4B8"/>
            </a:solidFill>
            <a:prstDash val="solid"/>
          </a:ln>
          <a:effectLst>
            <a:outerShdw blurRad="101600" dist="17780" dir="2700000" algn="bl" rotWithShape="0">
              <a:srgbClr val="CCC4B8">
                <a:alpha val="100000"/>
              </a:srgbClr>
            </a:outerShdw>
          </a:effectLst>
        </p:spPr>
        <p:txBody>
          <a:bodyPr/>
          <a:lstStyle/>
          <a:p>
            <a:endParaRPr lang="fr-FR"/>
          </a:p>
        </p:txBody>
      </p:sp>
      <p:sp>
        <p:nvSpPr>
          <p:cNvPr id="9" name="Text 5">
            <a:extLst>
              <a:ext uri="{FF2B5EF4-FFF2-40B4-BE49-F238E27FC236}">
                <a16:creationId xmlns:a16="http://schemas.microsoft.com/office/drawing/2014/main" id="{5C93CBC2-322D-4938-9D59-707E66F0345D}"/>
              </a:ext>
            </a:extLst>
          </p:cNvPr>
          <p:cNvSpPr>
            <a:spLocks noGrp="1"/>
          </p:cNvSpPr>
          <p:nvPr/>
        </p:nvSpPr>
        <p:spPr>
          <a:xfrm>
            <a:off x="4071640" y="2874169"/>
            <a:ext cx="1772022" cy="221456"/>
          </a:xfrm>
          <a:prstGeom prst="rect">
            <a:avLst/>
          </a:prstGeom>
          <a:noFill/>
        </p:spPr>
        <p:txBody>
          <a:bodyPr wrap="none" lIns="0" tIns="0" rIns="0" bIns="0" anchor="t"/>
          <a:lstStyle/>
          <a:p>
            <a:pPr marL="0" indent="0" algn="l">
              <a:lnSpc>
                <a:spcPct val="104000"/>
              </a:lnSpc>
              <a:buNone/>
            </a:pPr>
            <a:r>
              <a:rPr sz="1350">
                <a:solidFill>
                  <a:srgbClr val="000000"/>
                </a:solidFill>
                <a:latin typeface="Noto Serif Medium"/>
                <a:ea typeface="Noto Serif Medium"/>
                <a:cs typeface="Noto Serif Medium"/>
              </a:rPr>
              <a:t>Objectif</a:t>
            </a:r>
          </a:p>
        </p:txBody>
      </p:sp>
      <p:sp>
        <p:nvSpPr>
          <p:cNvPr id="10" name="Text 6">
            <a:extLst>
              <a:ext uri="{FF2B5EF4-FFF2-40B4-BE49-F238E27FC236}">
                <a16:creationId xmlns:a16="http://schemas.microsoft.com/office/drawing/2014/main" id="{02A70247-A38E-4A1B-B504-2C399783C9BD}"/>
              </a:ext>
            </a:extLst>
          </p:cNvPr>
          <p:cNvSpPr>
            <a:spLocks noGrp="1"/>
          </p:cNvSpPr>
          <p:nvPr/>
        </p:nvSpPr>
        <p:spPr>
          <a:xfrm>
            <a:off x="4071640" y="3180680"/>
            <a:ext cx="1997422" cy="680442"/>
          </a:xfrm>
          <a:prstGeom prst="rect">
            <a:avLst/>
          </a:prstGeom>
          <a:noFill/>
        </p:spPr>
        <p:txBody>
          <a:bodyPr wrap="square" lIns="0" tIns="0" rIns="0" bIns="0" anchor="t">
            <a:normAutofit/>
          </a:bodyPr>
          <a:lstStyle/>
          <a:p>
            <a:pPr marL="0" indent="0" algn="l">
              <a:lnSpc>
                <a:spcPct val="133000"/>
              </a:lnSpc>
              <a:buNone/>
            </a:pPr>
            <a:r>
              <a:rPr sz="1100">
                <a:solidFill>
                  <a:srgbClr val="000000"/>
                </a:solidFill>
                <a:latin typeface="Noto Serif"/>
                <a:ea typeface="Noto Serif"/>
                <a:cs typeface="Noto Serif"/>
              </a:rPr>
              <a:t>Vision complète et en temps réel de la santé financière du restaurant</a:t>
            </a:r>
          </a:p>
        </p:txBody>
      </p:sp>
      <p:sp>
        <p:nvSpPr>
          <p:cNvPr id="11" name="Shape 7">
            <a:extLst>
              <a:ext uri="{FF2B5EF4-FFF2-40B4-BE49-F238E27FC236}">
                <a16:creationId xmlns:a16="http://schemas.microsoft.com/office/drawing/2014/main" id="{7293D177-9851-4D9B-97BE-562087778799}"/>
              </a:ext>
            </a:extLst>
          </p:cNvPr>
          <p:cNvSpPr>
            <a:spLocks noGrp="1"/>
          </p:cNvSpPr>
          <p:nvPr/>
        </p:nvSpPr>
        <p:spPr>
          <a:xfrm>
            <a:off x="6357342" y="2727647"/>
            <a:ext cx="2290539" cy="1506810"/>
          </a:xfrm>
          <a:prstGeom prst="roundRect">
            <a:avLst>
              <a:gd name="adj" fmla="val 3952"/>
            </a:avLst>
          </a:prstGeom>
          <a:solidFill>
            <a:srgbClr val="E6DED2">
              <a:alpha val="50000"/>
            </a:srgbClr>
          </a:solidFill>
          <a:ln w="4763">
            <a:solidFill>
              <a:srgbClr val="CCC4B8"/>
            </a:solidFill>
            <a:prstDash val="solid"/>
          </a:ln>
          <a:effectLst>
            <a:outerShdw blurRad="101600" dist="17780" dir="2700000" algn="bl" rotWithShape="0">
              <a:srgbClr val="CCC4B8">
                <a:alpha val="100000"/>
              </a:srgbClr>
            </a:outerShdw>
          </a:effectLst>
        </p:spPr>
        <p:txBody>
          <a:bodyPr/>
          <a:lstStyle/>
          <a:p>
            <a:endParaRPr lang="fr-FR"/>
          </a:p>
        </p:txBody>
      </p:sp>
      <p:sp>
        <p:nvSpPr>
          <p:cNvPr id="12" name="Text 8">
            <a:extLst>
              <a:ext uri="{FF2B5EF4-FFF2-40B4-BE49-F238E27FC236}">
                <a16:creationId xmlns:a16="http://schemas.microsoft.com/office/drawing/2014/main" id="{27DE3414-395F-467F-9652-0DE0126B451F}"/>
              </a:ext>
            </a:extLst>
          </p:cNvPr>
          <p:cNvSpPr>
            <a:spLocks noGrp="1"/>
          </p:cNvSpPr>
          <p:nvPr/>
        </p:nvSpPr>
        <p:spPr>
          <a:xfrm>
            <a:off x="6503863" y="2874169"/>
            <a:ext cx="1772022" cy="221456"/>
          </a:xfrm>
          <a:prstGeom prst="rect">
            <a:avLst/>
          </a:prstGeom>
          <a:noFill/>
        </p:spPr>
        <p:txBody>
          <a:bodyPr wrap="none" lIns="0" tIns="0" rIns="0" bIns="0" anchor="t"/>
          <a:lstStyle/>
          <a:p>
            <a:pPr marL="0" indent="0" algn="l">
              <a:lnSpc>
                <a:spcPct val="104000"/>
              </a:lnSpc>
              <a:buNone/>
            </a:pPr>
            <a:r>
              <a:rPr sz="1350">
                <a:solidFill>
                  <a:srgbClr val="000000"/>
                </a:solidFill>
                <a:latin typeface="Noto Serif Medium"/>
                <a:ea typeface="Noto Serif Medium"/>
                <a:cs typeface="Noto Serif Medium"/>
              </a:rPr>
              <a:t>Principe</a:t>
            </a:r>
          </a:p>
        </p:txBody>
      </p:sp>
      <p:sp>
        <p:nvSpPr>
          <p:cNvPr id="13" name="Text 9">
            <a:extLst>
              <a:ext uri="{FF2B5EF4-FFF2-40B4-BE49-F238E27FC236}">
                <a16:creationId xmlns:a16="http://schemas.microsoft.com/office/drawing/2014/main" id="{B5D13551-DBFB-4E28-AC3B-D25696EA7CD5}"/>
              </a:ext>
            </a:extLst>
          </p:cNvPr>
          <p:cNvSpPr>
            <a:spLocks noGrp="1"/>
          </p:cNvSpPr>
          <p:nvPr/>
        </p:nvSpPr>
        <p:spPr>
          <a:xfrm>
            <a:off x="6503863" y="3180680"/>
            <a:ext cx="1997497" cy="907256"/>
          </a:xfrm>
          <a:prstGeom prst="rect">
            <a:avLst/>
          </a:prstGeom>
          <a:noFill/>
        </p:spPr>
        <p:txBody>
          <a:bodyPr wrap="square" lIns="0" tIns="0" rIns="0" bIns="0" anchor="t">
            <a:normAutofit/>
          </a:bodyPr>
          <a:lstStyle/>
          <a:p>
            <a:pPr marL="0" indent="0" algn="l">
              <a:lnSpc>
                <a:spcPct val="133000"/>
              </a:lnSpc>
              <a:buNone/>
            </a:pPr>
            <a:r>
              <a:rPr sz="1100">
                <a:solidFill>
                  <a:srgbClr val="000000"/>
                </a:solidFill>
                <a:latin typeface="Noto Serif"/>
                <a:ea typeface="Noto Serif"/>
                <a:cs typeface="Noto Serif"/>
              </a:rPr>
              <a:t>Centraliser les données revenus, dépenses, fournisseurs et prévisions en un seul lieu</a:t>
            </a:r>
          </a:p>
        </p:txBody>
      </p:sp>
    </p:spTree>
    <p:extLst>
      <p:ext uri="{BB962C8B-B14F-4D97-AF65-F5344CB8AC3E}">
        <p14:creationId xmlns:p14="http://schemas.microsoft.com/office/powerpoint/2010/main" val="15458666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TotalTime>
  <Words>1044</Words>
  <Application>Microsoft Macintosh PowerPoint</Application>
  <DocSecurity>0</DocSecurity>
  <PresentationFormat>Affichage à l'écran (16:9)</PresentationFormat>
  <Paragraphs>142</Paragraphs>
  <Slides>22</Slides>
  <Notes>21</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22</vt:i4>
      </vt:variant>
    </vt:vector>
  </HeadingPairs>
  <TitlesOfParts>
    <vt:vector size="27" baseType="lpstr">
      <vt:lpstr>Calibri</vt:lpstr>
      <vt:lpstr>Consolas</vt:lpstr>
      <vt:lpstr>Noto Serif</vt:lpstr>
      <vt:lpstr>Noto Serif Medium</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Nabil SARKER</cp:lastModifiedBy>
  <cp:revision>4</cp:revision>
  <dcterms:created xsi:type="dcterms:W3CDTF">2026-06-17T06:33:58Z</dcterms:created>
  <dcterms:modified xsi:type="dcterms:W3CDTF">2026-06-17T14:15:52Z</dcterms:modified>
</cp:coreProperties>
</file>